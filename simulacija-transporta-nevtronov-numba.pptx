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" name="Rectangle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4" name="Group"/>
          <p:cNvGrpSpPr/>
          <p:nvPr/>
        </p:nvGrpSpPr>
        <p:grpSpPr>
          <a:xfrm>
            <a:off x="857250" y="2190750"/>
            <a:ext cx="9334500" cy="723900"/>
            <a:chOff x="0" y="0"/>
            <a:chExt cx="9334500" cy="723900"/>
          </a:xfrm>
        </p:grpSpPr>
        <p:sp>
          <p:nvSpPr>
            <p:cNvPr id="22" name="Rectangle"/>
            <p:cNvSpPr/>
            <p:nvPr/>
          </p:nvSpPr>
          <p:spPr>
            <a:xfrm>
              <a:off x="0" y="0"/>
              <a:ext cx="9334500" cy="72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31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" name="Simulacija transporta nevtronov"/>
            <p:cNvSpPr txBox="1"/>
            <p:nvPr/>
          </p:nvSpPr>
          <p:spPr>
            <a:xfrm>
              <a:off x="0" y="0"/>
              <a:ext cx="9334500" cy="469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31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Simulacija transporta nevtronov</a:t>
              </a:r>
            </a:p>
          </p:txBody>
        </p:sp>
      </p:grpSp>
      <p:grpSp>
        <p:nvGrpSpPr>
          <p:cNvPr id="27" name="Group"/>
          <p:cNvGrpSpPr/>
          <p:nvPr/>
        </p:nvGrpSpPr>
        <p:grpSpPr>
          <a:xfrm>
            <a:off x="895350" y="3028950"/>
            <a:ext cx="3810000" cy="266700"/>
            <a:chOff x="0" y="0"/>
            <a:chExt cx="3810000" cy="266700"/>
          </a:xfrm>
        </p:grpSpPr>
        <p:sp>
          <p:nvSpPr>
            <p:cNvPr id="25" name="Rectangle"/>
            <p:cNvSpPr/>
            <p:nvPr/>
          </p:nvSpPr>
          <p:spPr>
            <a:xfrm>
              <a:off x="0" y="0"/>
              <a:ext cx="38100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3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6" name="Python + mpi4py"/>
            <p:cNvSpPr txBox="1"/>
            <p:nvPr/>
          </p:nvSpPr>
          <p:spPr>
            <a:xfrm>
              <a:off x="0" y="0"/>
              <a:ext cx="3810000" cy="203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13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Python + mpi4py</a:t>
              </a:r>
            </a:p>
          </p:txBody>
        </p:sp>
      </p:grpSp>
      <p:grpSp>
        <p:nvGrpSpPr>
          <p:cNvPr id="30" name="Group"/>
          <p:cNvGrpSpPr/>
          <p:nvPr/>
        </p:nvGrpSpPr>
        <p:grpSpPr>
          <a:xfrm>
            <a:off x="1375869" y="5005556"/>
            <a:ext cx="5905501" cy="323851"/>
            <a:chOff x="0" y="0"/>
            <a:chExt cx="5905500" cy="323850"/>
          </a:xfrm>
        </p:grpSpPr>
        <p:sp>
          <p:nvSpPr>
            <p:cNvPr id="28" name="Rectangle"/>
            <p:cNvSpPr/>
            <p:nvPr/>
          </p:nvSpPr>
          <p:spPr>
            <a:xfrm>
              <a:off x="0" y="0"/>
              <a:ext cx="5905500" cy="3238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9" name="Ime in priimek: Jure Kos"/>
            <p:cNvSpPr txBox="1"/>
            <p:nvPr/>
          </p:nvSpPr>
          <p:spPr>
            <a:xfrm>
              <a:off x="0" y="0"/>
              <a:ext cx="59055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Ime in priimek: Jure Kos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5" name="Group"/>
          <p:cNvGrpSpPr/>
          <p:nvPr/>
        </p:nvGrpSpPr>
        <p:grpSpPr>
          <a:xfrm>
            <a:off x="666750" y="438150"/>
            <a:ext cx="8001000" cy="457200"/>
            <a:chOff x="0" y="0"/>
            <a:chExt cx="8001000" cy="457200"/>
          </a:xfrm>
        </p:grpSpPr>
        <p:sp>
          <p:nvSpPr>
            <p:cNvPr id="33" name="Rectangle"/>
            <p:cNvSpPr/>
            <p:nvPr/>
          </p:nvSpPr>
          <p:spPr>
            <a:xfrm>
              <a:off x="0" y="0"/>
              <a:ext cx="8001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4" name="Algoritem simulacije"/>
            <p:cNvSpPr txBox="1"/>
            <p:nvPr/>
          </p:nvSpPr>
          <p:spPr>
            <a:xfrm>
              <a:off x="0" y="0"/>
              <a:ext cx="8001000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Algoritem simulacije</a:t>
              </a:r>
            </a:p>
          </p:txBody>
        </p:sp>
      </p:grpSp>
      <p:sp>
        <p:nvSpPr>
          <p:cNvPr id="36" name="Rectangle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2563EB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39" name="Group"/>
          <p:cNvGrpSpPr/>
          <p:nvPr/>
        </p:nvGrpSpPr>
        <p:grpSpPr>
          <a:xfrm>
            <a:off x="762000" y="1524000"/>
            <a:ext cx="5619750" cy="3429000"/>
            <a:chOff x="0" y="0"/>
            <a:chExt cx="5619750" cy="3429000"/>
          </a:xfrm>
        </p:grpSpPr>
        <p:sp>
          <p:nvSpPr>
            <p:cNvPr id="37" name="Rectangle"/>
            <p:cNvSpPr/>
            <p:nvPr/>
          </p:nvSpPr>
          <p:spPr>
            <a:xfrm>
              <a:off x="0" y="0"/>
              <a:ext cx="561975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38" name="• nevtron začne v točki (x, y) = (0, 0)…"/>
            <p:cNvSpPr txBox="1"/>
            <p:nvPr/>
          </p:nvSpPr>
          <p:spPr>
            <a:xfrm>
              <a:off x="0" y="0"/>
              <a:ext cx="5619750" cy="1371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nevtron začne v točki (x, y) = (0, 0)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dolžina naslednjega koraka je naključno izbrana iz eksponentne porazdelitve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gibanje poteka v 2D: po sipanju se izbere naključen kot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če je x &lt; 0, je nevtron odbit; če je x ≥ debelina, je prepuščen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sicer se lahko absorbira ali nadaljuje z novim sipanjem</a:t>
              </a:r>
            </a:p>
          </p:txBody>
        </p:sp>
      </p:grpSp>
      <p:sp>
        <p:nvSpPr>
          <p:cNvPr id="40" name="Rectangle"/>
          <p:cNvSpPr/>
          <p:nvPr/>
        </p:nvSpPr>
        <p:spPr>
          <a:xfrm>
            <a:off x="7239000" y="1381125"/>
            <a:ext cx="2190750" cy="704850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3" name="Group"/>
          <p:cNvGrpSpPr/>
          <p:nvPr/>
        </p:nvGrpSpPr>
        <p:grpSpPr>
          <a:xfrm>
            <a:off x="7372350" y="1495425"/>
            <a:ext cx="1924050" cy="476250"/>
            <a:chOff x="0" y="0"/>
            <a:chExt cx="1924050" cy="476250"/>
          </a:xfrm>
        </p:grpSpPr>
        <p:sp>
          <p:nvSpPr>
            <p:cNvPr id="41" name="Rectangle"/>
            <p:cNvSpPr/>
            <p:nvPr/>
          </p:nvSpPr>
          <p:spPr>
            <a:xfrm>
              <a:off x="0" y="0"/>
              <a:ext cx="1924050" cy="476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2" name="začetek…"/>
            <p:cNvSpPr txBox="1"/>
            <p:nvPr/>
          </p:nvSpPr>
          <p:spPr>
            <a:xfrm>
              <a:off x="0" y="34924"/>
              <a:ext cx="192405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začetek</a:t>
              </a:r>
            </a:p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x = 0, y = 0</a:t>
              </a:r>
            </a:p>
          </p:txBody>
        </p:sp>
      </p:grpSp>
      <p:sp>
        <p:nvSpPr>
          <p:cNvPr id="44" name="Rectangle"/>
          <p:cNvSpPr/>
          <p:nvPr/>
        </p:nvSpPr>
        <p:spPr>
          <a:xfrm>
            <a:off x="7239000" y="2381250"/>
            <a:ext cx="2190750" cy="70485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47" name="Group"/>
          <p:cNvGrpSpPr/>
          <p:nvPr/>
        </p:nvGrpSpPr>
        <p:grpSpPr>
          <a:xfrm>
            <a:off x="7372350" y="2495550"/>
            <a:ext cx="1924050" cy="476250"/>
            <a:chOff x="0" y="0"/>
            <a:chExt cx="1924050" cy="476250"/>
          </a:xfrm>
        </p:grpSpPr>
        <p:sp>
          <p:nvSpPr>
            <p:cNvPr id="45" name="Rectangle"/>
            <p:cNvSpPr/>
            <p:nvPr/>
          </p:nvSpPr>
          <p:spPr>
            <a:xfrm>
              <a:off x="0" y="0"/>
              <a:ext cx="1924050" cy="476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46" name="naključna…"/>
            <p:cNvSpPr txBox="1"/>
            <p:nvPr/>
          </p:nvSpPr>
          <p:spPr>
            <a:xfrm>
              <a:off x="0" y="34924"/>
              <a:ext cx="192405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naključna</a:t>
              </a:r>
            </a:p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prosta pot</a:t>
              </a:r>
            </a:p>
          </p:txBody>
        </p:sp>
      </p:grpSp>
      <p:sp>
        <p:nvSpPr>
          <p:cNvPr id="48" name="Rectangle"/>
          <p:cNvSpPr/>
          <p:nvPr/>
        </p:nvSpPr>
        <p:spPr>
          <a:xfrm>
            <a:off x="7239000" y="3381375"/>
            <a:ext cx="2190750" cy="70485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1" name="Group"/>
          <p:cNvGrpSpPr/>
          <p:nvPr/>
        </p:nvGrpSpPr>
        <p:grpSpPr>
          <a:xfrm>
            <a:off x="7372350" y="3495675"/>
            <a:ext cx="1924050" cy="476250"/>
            <a:chOff x="0" y="0"/>
            <a:chExt cx="1924050" cy="476250"/>
          </a:xfrm>
        </p:grpSpPr>
        <p:sp>
          <p:nvSpPr>
            <p:cNvPr id="49" name="Rectangle"/>
            <p:cNvSpPr/>
            <p:nvPr/>
          </p:nvSpPr>
          <p:spPr>
            <a:xfrm>
              <a:off x="0" y="0"/>
              <a:ext cx="1924050" cy="476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0" name="premik v 2D…"/>
            <p:cNvSpPr txBox="1"/>
            <p:nvPr/>
          </p:nvSpPr>
          <p:spPr>
            <a:xfrm>
              <a:off x="0" y="34924"/>
              <a:ext cx="192405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premik v 2D</a:t>
              </a:r>
            </a:p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x in y</a:t>
              </a:r>
            </a:p>
          </p:txBody>
        </p:sp>
      </p:grpSp>
      <p:sp>
        <p:nvSpPr>
          <p:cNvPr id="52" name="Rectangle"/>
          <p:cNvSpPr/>
          <p:nvPr/>
        </p:nvSpPr>
        <p:spPr>
          <a:xfrm>
            <a:off x="6667500" y="4619625"/>
            <a:ext cx="3333750" cy="81915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55" name="Group"/>
          <p:cNvGrpSpPr/>
          <p:nvPr/>
        </p:nvGrpSpPr>
        <p:grpSpPr>
          <a:xfrm>
            <a:off x="6800850" y="4733925"/>
            <a:ext cx="3067050" cy="590550"/>
            <a:chOff x="0" y="0"/>
            <a:chExt cx="3067050" cy="590550"/>
          </a:xfrm>
        </p:grpSpPr>
        <p:sp>
          <p:nvSpPr>
            <p:cNvPr id="53" name="Rectangle"/>
            <p:cNvSpPr/>
            <p:nvPr/>
          </p:nvSpPr>
          <p:spPr>
            <a:xfrm>
              <a:off x="0" y="0"/>
              <a:ext cx="3067050" cy="590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4" name="končno stanje:…"/>
            <p:cNvSpPr txBox="1"/>
            <p:nvPr/>
          </p:nvSpPr>
          <p:spPr>
            <a:xfrm>
              <a:off x="0" y="92075"/>
              <a:ext cx="306705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končno stanje:</a:t>
              </a:r>
            </a:p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odbit / prepuščen / absorbiran</a:t>
              </a:r>
            </a:p>
          </p:txBody>
        </p:sp>
      </p:grpSp>
      <p:grpSp>
        <p:nvGrpSpPr>
          <p:cNvPr id="58" name="Group"/>
          <p:cNvGrpSpPr/>
          <p:nvPr/>
        </p:nvGrpSpPr>
        <p:grpSpPr>
          <a:xfrm>
            <a:off x="666750" y="6334125"/>
            <a:ext cx="4953000" cy="209550"/>
            <a:chOff x="0" y="0"/>
            <a:chExt cx="4953000" cy="209550"/>
          </a:xfrm>
        </p:grpSpPr>
        <p:sp>
          <p:nvSpPr>
            <p:cNvPr id="56" name="Rectangle"/>
            <p:cNvSpPr/>
            <p:nvPr/>
          </p:nvSpPr>
          <p:spPr>
            <a:xfrm>
              <a:off x="0" y="0"/>
              <a:ext cx="4953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57" name="Simulacija transporta nevtronov · 2"/>
            <p:cNvSpPr txBox="1"/>
            <p:nvPr/>
          </p:nvSpPr>
          <p:spPr>
            <a:xfrm>
              <a:off x="0" y="0"/>
              <a:ext cx="495300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Simulacija transporta nevtronov · 2</a:t>
              </a:r>
            </a:p>
          </p:txBody>
        </p:sp>
      </p:grpSp>
      <p:grpSp>
        <p:nvGrpSpPr>
          <p:cNvPr id="61" name="Group"/>
          <p:cNvGrpSpPr/>
          <p:nvPr/>
        </p:nvGrpSpPr>
        <p:grpSpPr>
          <a:xfrm>
            <a:off x="8143875" y="1616609"/>
            <a:ext cx="381001" cy="2981128"/>
            <a:chOff x="0" y="0"/>
            <a:chExt cx="381000" cy="2981126"/>
          </a:xfrm>
        </p:grpSpPr>
        <p:sp>
          <p:nvSpPr>
            <p:cNvPr id="59" name="Rectangle"/>
            <p:cNvSpPr/>
            <p:nvPr/>
          </p:nvSpPr>
          <p:spPr>
            <a:xfrm>
              <a:off x="0" y="0"/>
              <a:ext cx="381000" cy="23336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0" name="↓…"/>
            <p:cNvSpPr txBox="1"/>
            <p:nvPr/>
          </p:nvSpPr>
          <p:spPr>
            <a:xfrm>
              <a:off x="-1" y="441126"/>
              <a:ext cx="381001" cy="2540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↓</a:t>
              </a: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↓</a:t>
              </a: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↓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66" name="Group"/>
          <p:cNvGrpSpPr/>
          <p:nvPr/>
        </p:nvGrpSpPr>
        <p:grpSpPr>
          <a:xfrm>
            <a:off x="666750" y="438150"/>
            <a:ext cx="8001000" cy="457200"/>
            <a:chOff x="0" y="0"/>
            <a:chExt cx="8001000" cy="457200"/>
          </a:xfrm>
        </p:grpSpPr>
        <p:sp>
          <p:nvSpPr>
            <p:cNvPr id="64" name="Rectangle"/>
            <p:cNvSpPr/>
            <p:nvPr/>
          </p:nvSpPr>
          <p:spPr>
            <a:xfrm>
              <a:off x="0" y="0"/>
              <a:ext cx="8001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5" name="Algoritem simulacije"/>
            <p:cNvSpPr txBox="1"/>
            <p:nvPr/>
          </p:nvSpPr>
          <p:spPr>
            <a:xfrm>
              <a:off x="0" y="0"/>
              <a:ext cx="8001000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Algoritem simulacije</a:t>
              </a:r>
            </a:p>
          </p:txBody>
        </p:sp>
      </p:grpSp>
      <p:sp>
        <p:nvSpPr>
          <p:cNvPr id="67" name="Rectangle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2563EB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70" name="Group"/>
          <p:cNvGrpSpPr/>
          <p:nvPr/>
        </p:nvGrpSpPr>
        <p:grpSpPr>
          <a:xfrm>
            <a:off x="762000" y="1524000"/>
            <a:ext cx="5619750" cy="3429000"/>
            <a:chOff x="0" y="0"/>
            <a:chExt cx="5619750" cy="3429000"/>
          </a:xfrm>
        </p:grpSpPr>
        <p:sp>
          <p:nvSpPr>
            <p:cNvPr id="68" name="Rectangle"/>
            <p:cNvSpPr/>
            <p:nvPr/>
          </p:nvSpPr>
          <p:spPr>
            <a:xfrm>
              <a:off x="0" y="0"/>
              <a:ext cx="561975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69" name="• nevtron začne v točki (x, y) = (0, 0)…"/>
            <p:cNvSpPr txBox="1"/>
            <p:nvPr/>
          </p:nvSpPr>
          <p:spPr>
            <a:xfrm>
              <a:off x="0" y="0"/>
              <a:ext cx="5619750" cy="1371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nevtron začne v točki (x, y) = (0, 0)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dolžina naslednjega koraka je naključno izbrana iz eksponentne porazdelitve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gibanje poteka v 2D: po sipanju se izbere naključen kot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če je x &lt; 0, je nevtron odbit; če je x ≥ debelina, je prepuščen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sicer se lahko absorbira ali nadaljuje z novim sipanjem</a:t>
              </a:r>
            </a:p>
          </p:txBody>
        </p:sp>
      </p:grpSp>
      <p:sp>
        <p:nvSpPr>
          <p:cNvPr id="71" name="Rectangle"/>
          <p:cNvSpPr/>
          <p:nvPr/>
        </p:nvSpPr>
        <p:spPr>
          <a:xfrm>
            <a:off x="7239000" y="1381125"/>
            <a:ext cx="2190750" cy="704850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74" name="Group"/>
          <p:cNvGrpSpPr/>
          <p:nvPr/>
        </p:nvGrpSpPr>
        <p:grpSpPr>
          <a:xfrm>
            <a:off x="7372350" y="1495425"/>
            <a:ext cx="1924050" cy="476250"/>
            <a:chOff x="0" y="0"/>
            <a:chExt cx="1924050" cy="476250"/>
          </a:xfrm>
        </p:grpSpPr>
        <p:sp>
          <p:nvSpPr>
            <p:cNvPr id="72" name="Rectangle"/>
            <p:cNvSpPr/>
            <p:nvPr/>
          </p:nvSpPr>
          <p:spPr>
            <a:xfrm>
              <a:off x="0" y="0"/>
              <a:ext cx="1924050" cy="476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3" name="začetek…"/>
            <p:cNvSpPr txBox="1"/>
            <p:nvPr/>
          </p:nvSpPr>
          <p:spPr>
            <a:xfrm>
              <a:off x="0" y="34924"/>
              <a:ext cx="192405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začetek</a:t>
              </a:r>
            </a:p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x = 0, y = 0</a:t>
              </a:r>
            </a:p>
          </p:txBody>
        </p:sp>
      </p:grpSp>
      <p:sp>
        <p:nvSpPr>
          <p:cNvPr id="75" name="Rectangle"/>
          <p:cNvSpPr/>
          <p:nvPr/>
        </p:nvSpPr>
        <p:spPr>
          <a:xfrm>
            <a:off x="7239000" y="2381250"/>
            <a:ext cx="2190750" cy="70485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78" name="Group"/>
          <p:cNvGrpSpPr/>
          <p:nvPr/>
        </p:nvGrpSpPr>
        <p:grpSpPr>
          <a:xfrm>
            <a:off x="7372350" y="2495550"/>
            <a:ext cx="1924050" cy="476250"/>
            <a:chOff x="0" y="0"/>
            <a:chExt cx="1924050" cy="476250"/>
          </a:xfrm>
        </p:grpSpPr>
        <p:sp>
          <p:nvSpPr>
            <p:cNvPr id="76" name="Rectangle"/>
            <p:cNvSpPr/>
            <p:nvPr/>
          </p:nvSpPr>
          <p:spPr>
            <a:xfrm>
              <a:off x="0" y="0"/>
              <a:ext cx="1924050" cy="476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77" name="naključna…"/>
            <p:cNvSpPr txBox="1"/>
            <p:nvPr/>
          </p:nvSpPr>
          <p:spPr>
            <a:xfrm>
              <a:off x="0" y="34924"/>
              <a:ext cx="192405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naključna</a:t>
              </a:r>
            </a:p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prosta pot</a:t>
              </a:r>
            </a:p>
          </p:txBody>
        </p:sp>
      </p:grpSp>
      <p:sp>
        <p:nvSpPr>
          <p:cNvPr id="79" name="Rectangle"/>
          <p:cNvSpPr/>
          <p:nvPr/>
        </p:nvSpPr>
        <p:spPr>
          <a:xfrm>
            <a:off x="7239000" y="3381375"/>
            <a:ext cx="2190750" cy="70485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82" name="Group"/>
          <p:cNvGrpSpPr/>
          <p:nvPr/>
        </p:nvGrpSpPr>
        <p:grpSpPr>
          <a:xfrm>
            <a:off x="7372350" y="3495675"/>
            <a:ext cx="1924050" cy="476250"/>
            <a:chOff x="0" y="0"/>
            <a:chExt cx="1924050" cy="476250"/>
          </a:xfrm>
        </p:grpSpPr>
        <p:sp>
          <p:nvSpPr>
            <p:cNvPr id="80" name="Rectangle"/>
            <p:cNvSpPr/>
            <p:nvPr/>
          </p:nvSpPr>
          <p:spPr>
            <a:xfrm>
              <a:off x="0" y="0"/>
              <a:ext cx="1924050" cy="476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1" name="premik v 2D…"/>
            <p:cNvSpPr txBox="1"/>
            <p:nvPr/>
          </p:nvSpPr>
          <p:spPr>
            <a:xfrm>
              <a:off x="0" y="34924"/>
              <a:ext cx="192405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premik v 2D</a:t>
              </a:r>
            </a:p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x in y</a:t>
              </a:r>
            </a:p>
          </p:txBody>
        </p:sp>
      </p:grpSp>
      <p:sp>
        <p:nvSpPr>
          <p:cNvPr id="83" name="Rectangle"/>
          <p:cNvSpPr/>
          <p:nvPr/>
        </p:nvSpPr>
        <p:spPr>
          <a:xfrm>
            <a:off x="6667500" y="4619625"/>
            <a:ext cx="3333750" cy="81915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86" name="Group"/>
          <p:cNvGrpSpPr/>
          <p:nvPr/>
        </p:nvGrpSpPr>
        <p:grpSpPr>
          <a:xfrm>
            <a:off x="6800850" y="4733925"/>
            <a:ext cx="3067050" cy="590550"/>
            <a:chOff x="0" y="0"/>
            <a:chExt cx="3067050" cy="590550"/>
          </a:xfrm>
        </p:grpSpPr>
        <p:sp>
          <p:nvSpPr>
            <p:cNvPr id="84" name="Rectangle"/>
            <p:cNvSpPr/>
            <p:nvPr/>
          </p:nvSpPr>
          <p:spPr>
            <a:xfrm>
              <a:off x="0" y="0"/>
              <a:ext cx="3067050" cy="590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5" name="končno stanje:…"/>
            <p:cNvSpPr txBox="1"/>
            <p:nvPr/>
          </p:nvSpPr>
          <p:spPr>
            <a:xfrm>
              <a:off x="0" y="92075"/>
              <a:ext cx="306705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končno stanje:</a:t>
              </a:r>
            </a:p>
            <a:p>
              <a:pPr>
                <a:defRPr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odbit / prepuščen / absorbiran</a:t>
              </a:r>
            </a:p>
          </p:txBody>
        </p:sp>
      </p:grpSp>
      <p:grpSp>
        <p:nvGrpSpPr>
          <p:cNvPr id="89" name="Group"/>
          <p:cNvGrpSpPr/>
          <p:nvPr/>
        </p:nvGrpSpPr>
        <p:grpSpPr>
          <a:xfrm>
            <a:off x="666750" y="6334125"/>
            <a:ext cx="4953000" cy="209550"/>
            <a:chOff x="0" y="0"/>
            <a:chExt cx="4953000" cy="209550"/>
          </a:xfrm>
        </p:grpSpPr>
        <p:sp>
          <p:nvSpPr>
            <p:cNvPr id="87" name="Rectangle"/>
            <p:cNvSpPr/>
            <p:nvPr/>
          </p:nvSpPr>
          <p:spPr>
            <a:xfrm>
              <a:off x="0" y="0"/>
              <a:ext cx="4953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88" name="Simulacija transporta nevtronov · 3"/>
            <p:cNvSpPr txBox="1"/>
            <p:nvPr/>
          </p:nvSpPr>
          <p:spPr>
            <a:xfrm>
              <a:off x="0" y="0"/>
              <a:ext cx="495300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Simulacija transporta nevtronov · 3</a:t>
              </a:r>
            </a:p>
          </p:txBody>
        </p:sp>
      </p:grpSp>
      <p:grpSp>
        <p:nvGrpSpPr>
          <p:cNvPr id="92" name="Group"/>
          <p:cNvGrpSpPr/>
          <p:nvPr/>
        </p:nvGrpSpPr>
        <p:grpSpPr>
          <a:xfrm>
            <a:off x="8143874" y="1616609"/>
            <a:ext cx="381001" cy="2981128"/>
            <a:chOff x="0" y="0"/>
            <a:chExt cx="381000" cy="2981126"/>
          </a:xfrm>
        </p:grpSpPr>
        <p:sp>
          <p:nvSpPr>
            <p:cNvPr id="90" name="Rectangle"/>
            <p:cNvSpPr/>
            <p:nvPr/>
          </p:nvSpPr>
          <p:spPr>
            <a:xfrm>
              <a:off x="0" y="0"/>
              <a:ext cx="381000" cy="233362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1" name="↓…"/>
            <p:cNvSpPr txBox="1"/>
            <p:nvPr/>
          </p:nvSpPr>
          <p:spPr>
            <a:xfrm>
              <a:off x="-1" y="441126"/>
              <a:ext cx="381001" cy="2540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↓</a:t>
              </a: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↓</a:t>
              </a: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 algn="ctr">
                <a:defRPr sz="2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↓</a:t>
              </a:r>
            </a:p>
          </p:txBody>
        </p:sp>
      </p:grpSp>
      <p:pic>
        <p:nvPicPr>
          <p:cNvPr id="93" name="Screenshot 2026-05-28 at 18.42.01.png" descr="Screenshot 2026-05-28 at 18.42.0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82942" y="1106350"/>
            <a:ext cx="5391534" cy="46453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98" name="Group"/>
          <p:cNvGrpSpPr/>
          <p:nvPr/>
        </p:nvGrpSpPr>
        <p:grpSpPr>
          <a:xfrm>
            <a:off x="666750" y="438150"/>
            <a:ext cx="8001000" cy="457200"/>
            <a:chOff x="0" y="0"/>
            <a:chExt cx="8001000" cy="457200"/>
          </a:xfrm>
        </p:grpSpPr>
        <p:sp>
          <p:nvSpPr>
            <p:cNvPr id="96" name="Rectangle"/>
            <p:cNvSpPr/>
            <p:nvPr/>
          </p:nvSpPr>
          <p:spPr>
            <a:xfrm>
              <a:off x="0" y="0"/>
              <a:ext cx="8001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97" name="Algoritem simulacije"/>
            <p:cNvSpPr txBox="1"/>
            <p:nvPr/>
          </p:nvSpPr>
          <p:spPr>
            <a:xfrm>
              <a:off x="0" y="0"/>
              <a:ext cx="8001000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Algoritem simulacije</a:t>
              </a:r>
            </a:p>
          </p:txBody>
        </p:sp>
      </p:grpSp>
      <p:sp>
        <p:nvSpPr>
          <p:cNvPr id="99" name="Rectangle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2563EB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02" name="Group"/>
          <p:cNvGrpSpPr/>
          <p:nvPr/>
        </p:nvGrpSpPr>
        <p:grpSpPr>
          <a:xfrm>
            <a:off x="666750" y="6334125"/>
            <a:ext cx="4953000" cy="209550"/>
            <a:chOff x="0" y="0"/>
            <a:chExt cx="4953000" cy="209550"/>
          </a:xfrm>
        </p:grpSpPr>
        <p:sp>
          <p:nvSpPr>
            <p:cNvPr id="100" name="Rectangle"/>
            <p:cNvSpPr/>
            <p:nvPr/>
          </p:nvSpPr>
          <p:spPr>
            <a:xfrm>
              <a:off x="0" y="0"/>
              <a:ext cx="4953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1" name="Simulacija transporta nevtronov · 4"/>
            <p:cNvSpPr txBox="1"/>
            <p:nvPr/>
          </p:nvSpPr>
          <p:spPr>
            <a:xfrm>
              <a:off x="0" y="0"/>
              <a:ext cx="495300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Simulacija transporta nevtronov · 4</a:t>
              </a:r>
            </a:p>
          </p:txBody>
        </p:sp>
      </p:grpSp>
      <p:pic>
        <p:nvPicPr>
          <p:cNvPr id="103" name="Screenshot 2026-05-28 at 16.59.51.png" descr="Screenshot 2026-05-28 at 16.59.5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2748" y="1541295"/>
            <a:ext cx="5146876" cy="1444903"/>
          </a:xfrm>
          <a:prstGeom prst="rect">
            <a:avLst/>
          </a:prstGeom>
          <a:ln w="3175">
            <a:solidFill>
              <a:srgbClr val="000000">
                <a:alpha val="0"/>
              </a:srgbClr>
            </a:solidFill>
          </a:ln>
        </p:spPr>
      </p:pic>
      <p:pic>
        <p:nvPicPr>
          <p:cNvPr id="104" name="Screenshot 2026-05-28 at 17.00.25.png" descr="Screenshot 2026-05-28 at 17.00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682421" y="1531029"/>
            <a:ext cx="4762501" cy="41230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09" name="Group"/>
          <p:cNvGrpSpPr/>
          <p:nvPr/>
        </p:nvGrpSpPr>
        <p:grpSpPr>
          <a:xfrm>
            <a:off x="666750" y="438150"/>
            <a:ext cx="8001000" cy="457200"/>
            <a:chOff x="0" y="0"/>
            <a:chExt cx="8001000" cy="457200"/>
          </a:xfrm>
        </p:grpSpPr>
        <p:sp>
          <p:nvSpPr>
            <p:cNvPr id="107" name="Rectangle"/>
            <p:cNvSpPr/>
            <p:nvPr/>
          </p:nvSpPr>
          <p:spPr>
            <a:xfrm>
              <a:off x="0" y="0"/>
              <a:ext cx="8001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08" name="Rezultati meritev"/>
            <p:cNvSpPr txBox="1"/>
            <p:nvPr/>
          </p:nvSpPr>
          <p:spPr>
            <a:xfrm>
              <a:off x="0" y="0"/>
              <a:ext cx="8001000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Rezultati meritev</a:t>
              </a:r>
            </a:p>
          </p:txBody>
        </p:sp>
      </p:grpSp>
      <p:sp>
        <p:nvSpPr>
          <p:cNvPr id="110" name="Rectangle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2563EB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1" name="Rectangle"/>
          <p:cNvSpPr/>
          <p:nvPr/>
        </p:nvSpPr>
        <p:spPr>
          <a:xfrm>
            <a:off x="552450" y="1381125"/>
            <a:ext cx="762000" cy="457200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14" name="Group"/>
          <p:cNvGrpSpPr/>
          <p:nvPr/>
        </p:nvGrpSpPr>
        <p:grpSpPr>
          <a:xfrm>
            <a:off x="600075" y="1428750"/>
            <a:ext cx="666750" cy="361950"/>
            <a:chOff x="0" y="0"/>
            <a:chExt cx="666750" cy="361950"/>
          </a:xfrm>
        </p:grpSpPr>
        <p:sp>
          <p:nvSpPr>
            <p:cNvPr id="112" name="Rectangle"/>
            <p:cNvSpPr/>
            <p:nvPr/>
          </p:nvSpPr>
          <p:spPr>
            <a:xfrm>
              <a:off x="0" y="0"/>
              <a:ext cx="66675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3" name="Procesi"/>
            <p:cNvSpPr txBox="1"/>
            <p:nvPr/>
          </p:nvSpPr>
          <p:spPr>
            <a:xfrm>
              <a:off x="0" y="111125"/>
              <a:ext cx="666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Procesi</a:t>
              </a:r>
            </a:p>
          </p:txBody>
        </p:sp>
      </p:grpSp>
      <p:sp>
        <p:nvSpPr>
          <p:cNvPr id="115" name="Rectangle"/>
          <p:cNvSpPr/>
          <p:nvPr/>
        </p:nvSpPr>
        <p:spPr>
          <a:xfrm>
            <a:off x="1314450" y="1381125"/>
            <a:ext cx="1123950" cy="457200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18" name="Group"/>
          <p:cNvGrpSpPr/>
          <p:nvPr/>
        </p:nvGrpSpPr>
        <p:grpSpPr>
          <a:xfrm>
            <a:off x="1362075" y="1428750"/>
            <a:ext cx="1028700" cy="361950"/>
            <a:chOff x="0" y="0"/>
            <a:chExt cx="1028700" cy="361950"/>
          </a:xfrm>
        </p:grpSpPr>
        <p:sp>
          <p:nvSpPr>
            <p:cNvPr id="116" name="Rectangle"/>
            <p:cNvSpPr/>
            <p:nvPr/>
          </p:nvSpPr>
          <p:spPr>
            <a:xfrm>
              <a:off x="0" y="0"/>
              <a:ext cx="10287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17" name="Čas brez Numbe"/>
            <p:cNvSpPr txBox="1"/>
            <p:nvPr/>
          </p:nvSpPr>
          <p:spPr>
            <a:xfrm>
              <a:off x="0" y="111125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Čas brez Numbe</a:t>
              </a:r>
            </a:p>
          </p:txBody>
        </p:sp>
      </p:grpSp>
      <p:sp>
        <p:nvSpPr>
          <p:cNvPr id="119" name="Rectangle"/>
          <p:cNvSpPr/>
          <p:nvPr/>
        </p:nvSpPr>
        <p:spPr>
          <a:xfrm>
            <a:off x="2438400" y="1381125"/>
            <a:ext cx="1123950" cy="45720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22" name="Group"/>
          <p:cNvGrpSpPr/>
          <p:nvPr/>
        </p:nvGrpSpPr>
        <p:grpSpPr>
          <a:xfrm>
            <a:off x="2486025" y="1428750"/>
            <a:ext cx="1028700" cy="361950"/>
            <a:chOff x="0" y="0"/>
            <a:chExt cx="1028700" cy="361950"/>
          </a:xfrm>
        </p:grpSpPr>
        <p:sp>
          <p:nvSpPr>
            <p:cNvPr id="120" name="Rectangle"/>
            <p:cNvSpPr/>
            <p:nvPr/>
          </p:nvSpPr>
          <p:spPr>
            <a:xfrm>
              <a:off x="0" y="0"/>
              <a:ext cx="10287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1" name="Čas Numba"/>
            <p:cNvSpPr txBox="1"/>
            <p:nvPr/>
          </p:nvSpPr>
          <p:spPr>
            <a:xfrm>
              <a:off x="0" y="111125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Čas Numba</a:t>
              </a:r>
            </a:p>
          </p:txBody>
        </p:sp>
      </p:grpSp>
      <p:sp>
        <p:nvSpPr>
          <p:cNvPr id="123" name="Rectangle"/>
          <p:cNvSpPr/>
          <p:nvPr/>
        </p:nvSpPr>
        <p:spPr>
          <a:xfrm>
            <a:off x="3562350" y="1381125"/>
            <a:ext cx="781050" cy="457200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26" name="Group"/>
          <p:cNvGrpSpPr/>
          <p:nvPr/>
        </p:nvGrpSpPr>
        <p:grpSpPr>
          <a:xfrm>
            <a:off x="3609975" y="1428750"/>
            <a:ext cx="685800" cy="361950"/>
            <a:chOff x="0" y="0"/>
            <a:chExt cx="685800" cy="361950"/>
          </a:xfrm>
        </p:grpSpPr>
        <p:sp>
          <p:nvSpPr>
            <p:cNvPr id="124" name="Rectangle"/>
            <p:cNvSpPr/>
            <p:nvPr/>
          </p:nvSpPr>
          <p:spPr>
            <a:xfrm>
              <a:off x="0" y="0"/>
              <a:ext cx="6858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5" name="S brez"/>
            <p:cNvSpPr txBox="1"/>
            <p:nvPr/>
          </p:nvSpPr>
          <p:spPr>
            <a:xfrm>
              <a:off x="0" y="111125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 brez</a:t>
              </a:r>
            </a:p>
          </p:txBody>
        </p:sp>
      </p:grpSp>
      <p:sp>
        <p:nvSpPr>
          <p:cNvPr id="127" name="Rectangle"/>
          <p:cNvSpPr/>
          <p:nvPr/>
        </p:nvSpPr>
        <p:spPr>
          <a:xfrm>
            <a:off x="4343400" y="1381125"/>
            <a:ext cx="781050" cy="457200"/>
          </a:xfrm>
          <a:prstGeom prst="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30" name="Group"/>
          <p:cNvGrpSpPr/>
          <p:nvPr/>
        </p:nvGrpSpPr>
        <p:grpSpPr>
          <a:xfrm>
            <a:off x="4391025" y="1428750"/>
            <a:ext cx="685800" cy="361950"/>
            <a:chOff x="0" y="0"/>
            <a:chExt cx="685800" cy="361950"/>
          </a:xfrm>
        </p:grpSpPr>
        <p:sp>
          <p:nvSpPr>
            <p:cNvPr id="128" name="Rectangle"/>
            <p:cNvSpPr/>
            <p:nvPr/>
          </p:nvSpPr>
          <p:spPr>
            <a:xfrm>
              <a:off x="0" y="0"/>
              <a:ext cx="6858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29" name="e brez"/>
            <p:cNvSpPr txBox="1"/>
            <p:nvPr/>
          </p:nvSpPr>
          <p:spPr>
            <a:xfrm>
              <a:off x="0" y="111125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 brez</a:t>
              </a:r>
            </a:p>
          </p:txBody>
        </p:sp>
      </p:grpSp>
      <p:sp>
        <p:nvSpPr>
          <p:cNvPr id="131" name="Rectangle"/>
          <p:cNvSpPr/>
          <p:nvPr/>
        </p:nvSpPr>
        <p:spPr>
          <a:xfrm>
            <a:off x="5124450" y="1381125"/>
            <a:ext cx="781050" cy="45720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34" name="Group"/>
          <p:cNvGrpSpPr/>
          <p:nvPr/>
        </p:nvGrpSpPr>
        <p:grpSpPr>
          <a:xfrm>
            <a:off x="5172075" y="1428750"/>
            <a:ext cx="685800" cy="361950"/>
            <a:chOff x="0" y="0"/>
            <a:chExt cx="685800" cy="361950"/>
          </a:xfrm>
        </p:grpSpPr>
        <p:sp>
          <p:nvSpPr>
            <p:cNvPr id="132" name="Rectangle"/>
            <p:cNvSpPr/>
            <p:nvPr/>
          </p:nvSpPr>
          <p:spPr>
            <a:xfrm>
              <a:off x="0" y="0"/>
              <a:ext cx="6858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3" name="S Numba"/>
            <p:cNvSpPr txBox="1"/>
            <p:nvPr/>
          </p:nvSpPr>
          <p:spPr>
            <a:xfrm>
              <a:off x="0" y="111125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 Numba</a:t>
              </a:r>
            </a:p>
          </p:txBody>
        </p:sp>
      </p:grpSp>
      <p:sp>
        <p:nvSpPr>
          <p:cNvPr id="135" name="Rectangle"/>
          <p:cNvSpPr/>
          <p:nvPr/>
        </p:nvSpPr>
        <p:spPr>
          <a:xfrm>
            <a:off x="5905500" y="1381125"/>
            <a:ext cx="781050" cy="457200"/>
          </a:xfrm>
          <a:prstGeom prst="rect">
            <a:avLst/>
          </a:prstGeom>
          <a:solidFill>
            <a:srgbClr val="DCFCE7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38" name="Group"/>
          <p:cNvGrpSpPr/>
          <p:nvPr/>
        </p:nvGrpSpPr>
        <p:grpSpPr>
          <a:xfrm>
            <a:off x="5953125" y="1428750"/>
            <a:ext cx="685800" cy="361950"/>
            <a:chOff x="0" y="0"/>
            <a:chExt cx="685800" cy="361950"/>
          </a:xfrm>
        </p:grpSpPr>
        <p:sp>
          <p:nvSpPr>
            <p:cNvPr id="136" name="Rectangle"/>
            <p:cNvSpPr/>
            <p:nvPr/>
          </p:nvSpPr>
          <p:spPr>
            <a:xfrm>
              <a:off x="0" y="0"/>
              <a:ext cx="685800" cy="3619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37" name="e Numba"/>
            <p:cNvSpPr txBox="1"/>
            <p:nvPr/>
          </p:nvSpPr>
          <p:spPr>
            <a:xfrm>
              <a:off x="0" y="111125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 Numba</a:t>
              </a:r>
            </a:p>
          </p:txBody>
        </p:sp>
      </p:grpSp>
      <p:sp>
        <p:nvSpPr>
          <p:cNvPr id="139" name="Rectangle"/>
          <p:cNvSpPr/>
          <p:nvPr/>
        </p:nvSpPr>
        <p:spPr>
          <a:xfrm>
            <a:off x="552450" y="1838325"/>
            <a:ext cx="762000" cy="47625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42" name="Group"/>
          <p:cNvGrpSpPr/>
          <p:nvPr/>
        </p:nvGrpSpPr>
        <p:grpSpPr>
          <a:xfrm>
            <a:off x="600075" y="1885950"/>
            <a:ext cx="666750" cy="381000"/>
            <a:chOff x="0" y="0"/>
            <a:chExt cx="666750" cy="381000"/>
          </a:xfrm>
        </p:grpSpPr>
        <p:sp>
          <p:nvSpPr>
            <p:cNvPr id="140" name="Rectangle"/>
            <p:cNvSpPr/>
            <p:nvPr/>
          </p:nvSpPr>
          <p:spPr>
            <a:xfrm>
              <a:off x="0" y="0"/>
              <a:ext cx="6667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1" name="1"/>
            <p:cNvSpPr txBox="1"/>
            <p:nvPr/>
          </p:nvSpPr>
          <p:spPr>
            <a:xfrm>
              <a:off x="0" y="120649"/>
              <a:ext cx="666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43" name="Rectangle"/>
          <p:cNvSpPr/>
          <p:nvPr/>
        </p:nvSpPr>
        <p:spPr>
          <a:xfrm>
            <a:off x="1314450" y="1838325"/>
            <a:ext cx="11239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46" name="Group"/>
          <p:cNvGrpSpPr/>
          <p:nvPr/>
        </p:nvGrpSpPr>
        <p:grpSpPr>
          <a:xfrm>
            <a:off x="1362075" y="1885950"/>
            <a:ext cx="1028700" cy="381000"/>
            <a:chOff x="0" y="0"/>
            <a:chExt cx="1028700" cy="381000"/>
          </a:xfrm>
        </p:grpSpPr>
        <p:sp>
          <p:nvSpPr>
            <p:cNvPr id="144" name="Rectangle"/>
            <p:cNvSpPr/>
            <p:nvPr/>
          </p:nvSpPr>
          <p:spPr>
            <a:xfrm>
              <a:off x="0" y="0"/>
              <a:ext cx="1028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5" name="17.766 s"/>
            <p:cNvSpPr txBox="1"/>
            <p:nvPr/>
          </p:nvSpPr>
          <p:spPr>
            <a:xfrm>
              <a:off x="0" y="120649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17.766 s</a:t>
              </a:r>
            </a:p>
          </p:txBody>
        </p:sp>
      </p:grpSp>
      <p:sp>
        <p:nvSpPr>
          <p:cNvPr id="147" name="Rectangle"/>
          <p:cNvSpPr/>
          <p:nvPr/>
        </p:nvSpPr>
        <p:spPr>
          <a:xfrm>
            <a:off x="2438400" y="1838325"/>
            <a:ext cx="11239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50" name="Group"/>
          <p:cNvGrpSpPr/>
          <p:nvPr/>
        </p:nvGrpSpPr>
        <p:grpSpPr>
          <a:xfrm>
            <a:off x="2486025" y="1885950"/>
            <a:ext cx="1028700" cy="381000"/>
            <a:chOff x="0" y="0"/>
            <a:chExt cx="1028700" cy="381000"/>
          </a:xfrm>
        </p:grpSpPr>
        <p:sp>
          <p:nvSpPr>
            <p:cNvPr id="148" name="Rectangle"/>
            <p:cNvSpPr/>
            <p:nvPr/>
          </p:nvSpPr>
          <p:spPr>
            <a:xfrm>
              <a:off x="0" y="0"/>
              <a:ext cx="1028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49" name="0.923 s"/>
            <p:cNvSpPr txBox="1"/>
            <p:nvPr/>
          </p:nvSpPr>
          <p:spPr>
            <a:xfrm>
              <a:off x="0" y="120649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0.923 s</a:t>
              </a:r>
            </a:p>
          </p:txBody>
        </p:sp>
      </p:grpSp>
      <p:sp>
        <p:nvSpPr>
          <p:cNvPr id="151" name="Rectangle"/>
          <p:cNvSpPr/>
          <p:nvPr/>
        </p:nvSpPr>
        <p:spPr>
          <a:xfrm>
            <a:off x="3562350" y="183832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54" name="Group"/>
          <p:cNvGrpSpPr/>
          <p:nvPr/>
        </p:nvGrpSpPr>
        <p:grpSpPr>
          <a:xfrm>
            <a:off x="3609975" y="1885950"/>
            <a:ext cx="685800" cy="381000"/>
            <a:chOff x="0" y="0"/>
            <a:chExt cx="685800" cy="381000"/>
          </a:xfrm>
        </p:grpSpPr>
        <p:sp>
          <p:nvSpPr>
            <p:cNvPr id="152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3" name="1.00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1.00</a:t>
              </a:r>
            </a:p>
          </p:txBody>
        </p:sp>
      </p:grpSp>
      <p:sp>
        <p:nvSpPr>
          <p:cNvPr id="155" name="Rectangle"/>
          <p:cNvSpPr/>
          <p:nvPr/>
        </p:nvSpPr>
        <p:spPr>
          <a:xfrm>
            <a:off x="4343400" y="183832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58" name="Group"/>
          <p:cNvGrpSpPr/>
          <p:nvPr/>
        </p:nvGrpSpPr>
        <p:grpSpPr>
          <a:xfrm>
            <a:off x="4391025" y="1885950"/>
            <a:ext cx="685800" cy="381000"/>
            <a:chOff x="0" y="0"/>
            <a:chExt cx="685800" cy="381000"/>
          </a:xfrm>
        </p:grpSpPr>
        <p:sp>
          <p:nvSpPr>
            <p:cNvPr id="156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57" name="0.000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0.000</a:t>
              </a:r>
            </a:p>
          </p:txBody>
        </p:sp>
      </p:grpSp>
      <p:sp>
        <p:nvSpPr>
          <p:cNvPr id="159" name="Rectangle"/>
          <p:cNvSpPr/>
          <p:nvPr/>
        </p:nvSpPr>
        <p:spPr>
          <a:xfrm>
            <a:off x="5124450" y="183832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62" name="Group"/>
          <p:cNvGrpSpPr/>
          <p:nvPr/>
        </p:nvGrpSpPr>
        <p:grpSpPr>
          <a:xfrm>
            <a:off x="5172075" y="1885950"/>
            <a:ext cx="685800" cy="381000"/>
            <a:chOff x="0" y="0"/>
            <a:chExt cx="685800" cy="381000"/>
          </a:xfrm>
        </p:grpSpPr>
        <p:sp>
          <p:nvSpPr>
            <p:cNvPr id="160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1" name="1.00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1.00</a:t>
              </a:r>
            </a:p>
          </p:txBody>
        </p:sp>
      </p:grpSp>
      <p:sp>
        <p:nvSpPr>
          <p:cNvPr id="163" name="Rectangle"/>
          <p:cNvSpPr/>
          <p:nvPr/>
        </p:nvSpPr>
        <p:spPr>
          <a:xfrm>
            <a:off x="5905500" y="183832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66" name="Group"/>
          <p:cNvGrpSpPr/>
          <p:nvPr/>
        </p:nvGrpSpPr>
        <p:grpSpPr>
          <a:xfrm>
            <a:off x="5953125" y="1885950"/>
            <a:ext cx="685800" cy="381000"/>
            <a:chOff x="0" y="0"/>
            <a:chExt cx="685800" cy="381000"/>
          </a:xfrm>
        </p:grpSpPr>
        <p:sp>
          <p:nvSpPr>
            <p:cNvPr id="164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5" name="0.000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0.000</a:t>
              </a:r>
            </a:p>
          </p:txBody>
        </p:sp>
      </p:grpSp>
      <p:sp>
        <p:nvSpPr>
          <p:cNvPr id="167" name="Rectangle"/>
          <p:cNvSpPr/>
          <p:nvPr/>
        </p:nvSpPr>
        <p:spPr>
          <a:xfrm>
            <a:off x="552450" y="2314575"/>
            <a:ext cx="762000" cy="47625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70" name="Group"/>
          <p:cNvGrpSpPr/>
          <p:nvPr/>
        </p:nvGrpSpPr>
        <p:grpSpPr>
          <a:xfrm>
            <a:off x="600075" y="2362200"/>
            <a:ext cx="666750" cy="381000"/>
            <a:chOff x="0" y="0"/>
            <a:chExt cx="666750" cy="381000"/>
          </a:xfrm>
        </p:grpSpPr>
        <p:sp>
          <p:nvSpPr>
            <p:cNvPr id="168" name="Rectangle"/>
            <p:cNvSpPr/>
            <p:nvPr/>
          </p:nvSpPr>
          <p:spPr>
            <a:xfrm>
              <a:off x="0" y="0"/>
              <a:ext cx="6667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69" name="2"/>
            <p:cNvSpPr txBox="1"/>
            <p:nvPr/>
          </p:nvSpPr>
          <p:spPr>
            <a:xfrm>
              <a:off x="0" y="120649"/>
              <a:ext cx="666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71" name="Rectangle"/>
          <p:cNvSpPr/>
          <p:nvPr/>
        </p:nvSpPr>
        <p:spPr>
          <a:xfrm>
            <a:off x="1314450" y="2314575"/>
            <a:ext cx="11239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1362075" y="2362200"/>
            <a:ext cx="1028700" cy="381000"/>
            <a:chOff x="0" y="0"/>
            <a:chExt cx="1028700" cy="381000"/>
          </a:xfrm>
        </p:grpSpPr>
        <p:sp>
          <p:nvSpPr>
            <p:cNvPr id="172" name="Rectangle"/>
            <p:cNvSpPr/>
            <p:nvPr/>
          </p:nvSpPr>
          <p:spPr>
            <a:xfrm>
              <a:off x="0" y="0"/>
              <a:ext cx="1028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3" name="9.049 s"/>
            <p:cNvSpPr txBox="1"/>
            <p:nvPr/>
          </p:nvSpPr>
          <p:spPr>
            <a:xfrm>
              <a:off x="0" y="120649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9.049 s</a:t>
              </a:r>
            </a:p>
          </p:txBody>
        </p:sp>
      </p:grpSp>
      <p:sp>
        <p:nvSpPr>
          <p:cNvPr id="175" name="Rectangle"/>
          <p:cNvSpPr/>
          <p:nvPr/>
        </p:nvSpPr>
        <p:spPr>
          <a:xfrm>
            <a:off x="2438400" y="2314575"/>
            <a:ext cx="11239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78" name="Group"/>
          <p:cNvGrpSpPr/>
          <p:nvPr/>
        </p:nvGrpSpPr>
        <p:grpSpPr>
          <a:xfrm>
            <a:off x="2486025" y="2362200"/>
            <a:ext cx="1028700" cy="381000"/>
            <a:chOff x="0" y="0"/>
            <a:chExt cx="1028700" cy="381000"/>
          </a:xfrm>
        </p:grpSpPr>
        <p:sp>
          <p:nvSpPr>
            <p:cNvPr id="176" name="Rectangle"/>
            <p:cNvSpPr/>
            <p:nvPr/>
          </p:nvSpPr>
          <p:spPr>
            <a:xfrm>
              <a:off x="0" y="0"/>
              <a:ext cx="1028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77" name="0.477 s"/>
            <p:cNvSpPr txBox="1"/>
            <p:nvPr/>
          </p:nvSpPr>
          <p:spPr>
            <a:xfrm>
              <a:off x="0" y="120649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0.477 s</a:t>
              </a:r>
            </a:p>
          </p:txBody>
        </p:sp>
      </p:grpSp>
      <p:sp>
        <p:nvSpPr>
          <p:cNvPr id="179" name="Rectangle"/>
          <p:cNvSpPr/>
          <p:nvPr/>
        </p:nvSpPr>
        <p:spPr>
          <a:xfrm>
            <a:off x="3562350" y="231457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82" name="Group"/>
          <p:cNvGrpSpPr/>
          <p:nvPr/>
        </p:nvGrpSpPr>
        <p:grpSpPr>
          <a:xfrm>
            <a:off x="3609975" y="2362200"/>
            <a:ext cx="685800" cy="381000"/>
            <a:chOff x="0" y="0"/>
            <a:chExt cx="685800" cy="381000"/>
          </a:xfrm>
        </p:grpSpPr>
        <p:sp>
          <p:nvSpPr>
            <p:cNvPr id="180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1" name="1.96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1.96</a:t>
              </a:r>
            </a:p>
          </p:txBody>
        </p:sp>
      </p:grpSp>
      <p:sp>
        <p:nvSpPr>
          <p:cNvPr id="183" name="Rectangle"/>
          <p:cNvSpPr/>
          <p:nvPr/>
        </p:nvSpPr>
        <p:spPr>
          <a:xfrm>
            <a:off x="4343400" y="231457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86" name="Group"/>
          <p:cNvGrpSpPr/>
          <p:nvPr/>
        </p:nvGrpSpPr>
        <p:grpSpPr>
          <a:xfrm>
            <a:off x="4391025" y="2362200"/>
            <a:ext cx="685800" cy="381000"/>
            <a:chOff x="0" y="0"/>
            <a:chExt cx="685800" cy="381000"/>
          </a:xfrm>
        </p:grpSpPr>
        <p:sp>
          <p:nvSpPr>
            <p:cNvPr id="184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5" name="0.019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0.019</a:t>
              </a:r>
            </a:p>
          </p:txBody>
        </p:sp>
      </p:grpSp>
      <p:sp>
        <p:nvSpPr>
          <p:cNvPr id="187" name="Rectangle"/>
          <p:cNvSpPr/>
          <p:nvPr/>
        </p:nvSpPr>
        <p:spPr>
          <a:xfrm>
            <a:off x="5124450" y="231457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0" name="Group"/>
          <p:cNvGrpSpPr/>
          <p:nvPr/>
        </p:nvGrpSpPr>
        <p:grpSpPr>
          <a:xfrm>
            <a:off x="5172075" y="2362200"/>
            <a:ext cx="685800" cy="381000"/>
            <a:chOff x="0" y="0"/>
            <a:chExt cx="685800" cy="381000"/>
          </a:xfrm>
        </p:grpSpPr>
        <p:sp>
          <p:nvSpPr>
            <p:cNvPr id="188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89" name="1.94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1.94</a:t>
              </a:r>
            </a:p>
          </p:txBody>
        </p:sp>
      </p:grpSp>
      <p:sp>
        <p:nvSpPr>
          <p:cNvPr id="191" name="Rectangle"/>
          <p:cNvSpPr/>
          <p:nvPr/>
        </p:nvSpPr>
        <p:spPr>
          <a:xfrm>
            <a:off x="5905500" y="231457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4" name="Group"/>
          <p:cNvGrpSpPr/>
          <p:nvPr/>
        </p:nvGrpSpPr>
        <p:grpSpPr>
          <a:xfrm>
            <a:off x="5953125" y="2362200"/>
            <a:ext cx="685800" cy="381000"/>
            <a:chOff x="0" y="0"/>
            <a:chExt cx="685800" cy="381000"/>
          </a:xfrm>
        </p:grpSpPr>
        <p:sp>
          <p:nvSpPr>
            <p:cNvPr id="192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93" name="0.033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0.033</a:t>
              </a:r>
            </a:p>
          </p:txBody>
        </p:sp>
      </p:grpSp>
      <p:sp>
        <p:nvSpPr>
          <p:cNvPr id="195" name="Rectangle"/>
          <p:cNvSpPr/>
          <p:nvPr/>
        </p:nvSpPr>
        <p:spPr>
          <a:xfrm>
            <a:off x="552450" y="2790825"/>
            <a:ext cx="762000" cy="47625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600075" y="2838450"/>
            <a:ext cx="666750" cy="381000"/>
            <a:chOff x="0" y="0"/>
            <a:chExt cx="666750" cy="381000"/>
          </a:xfrm>
        </p:grpSpPr>
        <p:sp>
          <p:nvSpPr>
            <p:cNvPr id="196" name="Rectangle"/>
            <p:cNvSpPr/>
            <p:nvPr/>
          </p:nvSpPr>
          <p:spPr>
            <a:xfrm>
              <a:off x="0" y="0"/>
              <a:ext cx="6667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197" name="4"/>
            <p:cNvSpPr txBox="1"/>
            <p:nvPr/>
          </p:nvSpPr>
          <p:spPr>
            <a:xfrm>
              <a:off x="0" y="120649"/>
              <a:ext cx="666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199" name="Rectangle"/>
          <p:cNvSpPr/>
          <p:nvPr/>
        </p:nvSpPr>
        <p:spPr>
          <a:xfrm>
            <a:off x="1314450" y="2790825"/>
            <a:ext cx="11239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02" name="Group"/>
          <p:cNvGrpSpPr/>
          <p:nvPr/>
        </p:nvGrpSpPr>
        <p:grpSpPr>
          <a:xfrm>
            <a:off x="1362075" y="2838450"/>
            <a:ext cx="1028700" cy="381000"/>
            <a:chOff x="0" y="0"/>
            <a:chExt cx="1028700" cy="381000"/>
          </a:xfrm>
        </p:grpSpPr>
        <p:sp>
          <p:nvSpPr>
            <p:cNvPr id="200" name="Rectangle"/>
            <p:cNvSpPr/>
            <p:nvPr/>
          </p:nvSpPr>
          <p:spPr>
            <a:xfrm>
              <a:off x="0" y="0"/>
              <a:ext cx="1028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1" name="5.723 s"/>
            <p:cNvSpPr txBox="1"/>
            <p:nvPr/>
          </p:nvSpPr>
          <p:spPr>
            <a:xfrm>
              <a:off x="0" y="120649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5.723 s</a:t>
              </a:r>
            </a:p>
          </p:txBody>
        </p:sp>
      </p:grpSp>
      <p:sp>
        <p:nvSpPr>
          <p:cNvPr id="203" name="Rectangle"/>
          <p:cNvSpPr/>
          <p:nvPr/>
        </p:nvSpPr>
        <p:spPr>
          <a:xfrm>
            <a:off x="2438400" y="2790825"/>
            <a:ext cx="11239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06" name="Group"/>
          <p:cNvGrpSpPr/>
          <p:nvPr/>
        </p:nvGrpSpPr>
        <p:grpSpPr>
          <a:xfrm>
            <a:off x="2486025" y="2838450"/>
            <a:ext cx="1028700" cy="381000"/>
            <a:chOff x="0" y="0"/>
            <a:chExt cx="1028700" cy="381000"/>
          </a:xfrm>
        </p:grpSpPr>
        <p:sp>
          <p:nvSpPr>
            <p:cNvPr id="204" name="Rectangle"/>
            <p:cNvSpPr/>
            <p:nvPr/>
          </p:nvSpPr>
          <p:spPr>
            <a:xfrm>
              <a:off x="0" y="0"/>
              <a:ext cx="1028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5" name="0.296 s"/>
            <p:cNvSpPr txBox="1"/>
            <p:nvPr/>
          </p:nvSpPr>
          <p:spPr>
            <a:xfrm>
              <a:off x="0" y="120649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0.296 s</a:t>
              </a:r>
            </a:p>
          </p:txBody>
        </p:sp>
      </p:grpSp>
      <p:sp>
        <p:nvSpPr>
          <p:cNvPr id="207" name="Rectangle"/>
          <p:cNvSpPr/>
          <p:nvPr/>
        </p:nvSpPr>
        <p:spPr>
          <a:xfrm>
            <a:off x="3562350" y="279082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10" name="Group"/>
          <p:cNvGrpSpPr/>
          <p:nvPr/>
        </p:nvGrpSpPr>
        <p:grpSpPr>
          <a:xfrm>
            <a:off x="3609975" y="2838450"/>
            <a:ext cx="685800" cy="381000"/>
            <a:chOff x="0" y="0"/>
            <a:chExt cx="685800" cy="381000"/>
          </a:xfrm>
        </p:grpSpPr>
        <p:sp>
          <p:nvSpPr>
            <p:cNvPr id="208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09" name="3.10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3.10</a:t>
              </a:r>
            </a:p>
          </p:txBody>
        </p:sp>
      </p:grpSp>
      <p:sp>
        <p:nvSpPr>
          <p:cNvPr id="211" name="Rectangle"/>
          <p:cNvSpPr/>
          <p:nvPr/>
        </p:nvSpPr>
        <p:spPr>
          <a:xfrm>
            <a:off x="4343400" y="279082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14" name="Group"/>
          <p:cNvGrpSpPr/>
          <p:nvPr/>
        </p:nvGrpSpPr>
        <p:grpSpPr>
          <a:xfrm>
            <a:off x="4391025" y="2838450"/>
            <a:ext cx="685800" cy="381000"/>
            <a:chOff x="0" y="0"/>
            <a:chExt cx="685800" cy="381000"/>
          </a:xfrm>
        </p:grpSpPr>
        <p:sp>
          <p:nvSpPr>
            <p:cNvPr id="212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3" name="0.096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0.096</a:t>
              </a:r>
            </a:p>
          </p:txBody>
        </p:sp>
      </p:grpSp>
      <p:sp>
        <p:nvSpPr>
          <p:cNvPr id="215" name="Rectangle"/>
          <p:cNvSpPr/>
          <p:nvPr/>
        </p:nvSpPr>
        <p:spPr>
          <a:xfrm>
            <a:off x="5124450" y="279082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18" name="Group"/>
          <p:cNvGrpSpPr/>
          <p:nvPr/>
        </p:nvGrpSpPr>
        <p:grpSpPr>
          <a:xfrm>
            <a:off x="5172075" y="2838450"/>
            <a:ext cx="685800" cy="381000"/>
            <a:chOff x="0" y="0"/>
            <a:chExt cx="685800" cy="381000"/>
          </a:xfrm>
        </p:grpSpPr>
        <p:sp>
          <p:nvSpPr>
            <p:cNvPr id="216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17" name="3.12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3.12</a:t>
              </a:r>
            </a:p>
          </p:txBody>
        </p:sp>
      </p:grpSp>
      <p:sp>
        <p:nvSpPr>
          <p:cNvPr id="219" name="Rectangle"/>
          <p:cNvSpPr/>
          <p:nvPr/>
        </p:nvSpPr>
        <p:spPr>
          <a:xfrm>
            <a:off x="5905500" y="279082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22" name="Group"/>
          <p:cNvGrpSpPr/>
          <p:nvPr/>
        </p:nvGrpSpPr>
        <p:grpSpPr>
          <a:xfrm>
            <a:off x="5953125" y="2838450"/>
            <a:ext cx="685800" cy="381000"/>
            <a:chOff x="0" y="0"/>
            <a:chExt cx="685800" cy="381000"/>
          </a:xfrm>
        </p:grpSpPr>
        <p:sp>
          <p:nvSpPr>
            <p:cNvPr id="220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1" name="0.094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0.094</a:t>
              </a:r>
            </a:p>
          </p:txBody>
        </p:sp>
      </p:grpSp>
      <p:sp>
        <p:nvSpPr>
          <p:cNvPr id="223" name="Rectangle"/>
          <p:cNvSpPr/>
          <p:nvPr/>
        </p:nvSpPr>
        <p:spPr>
          <a:xfrm>
            <a:off x="552450" y="3267075"/>
            <a:ext cx="762000" cy="47625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26" name="Group"/>
          <p:cNvGrpSpPr/>
          <p:nvPr/>
        </p:nvGrpSpPr>
        <p:grpSpPr>
          <a:xfrm>
            <a:off x="600075" y="3314700"/>
            <a:ext cx="666750" cy="381000"/>
            <a:chOff x="0" y="0"/>
            <a:chExt cx="666750" cy="381000"/>
          </a:xfrm>
        </p:grpSpPr>
        <p:sp>
          <p:nvSpPr>
            <p:cNvPr id="224" name="Rectangle"/>
            <p:cNvSpPr/>
            <p:nvPr/>
          </p:nvSpPr>
          <p:spPr>
            <a:xfrm>
              <a:off x="0" y="0"/>
              <a:ext cx="66675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5" name="8"/>
            <p:cNvSpPr txBox="1"/>
            <p:nvPr/>
          </p:nvSpPr>
          <p:spPr>
            <a:xfrm>
              <a:off x="0" y="120649"/>
              <a:ext cx="66675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8</a:t>
              </a:r>
            </a:p>
          </p:txBody>
        </p:sp>
      </p:grpSp>
      <p:sp>
        <p:nvSpPr>
          <p:cNvPr id="227" name="Rectangle"/>
          <p:cNvSpPr/>
          <p:nvPr/>
        </p:nvSpPr>
        <p:spPr>
          <a:xfrm>
            <a:off x="1314450" y="3267075"/>
            <a:ext cx="11239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0" name="Group"/>
          <p:cNvGrpSpPr/>
          <p:nvPr/>
        </p:nvGrpSpPr>
        <p:grpSpPr>
          <a:xfrm>
            <a:off x="1362075" y="3314700"/>
            <a:ext cx="1028700" cy="381000"/>
            <a:chOff x="0" y="0"/>
            <a:chExt cx="1028700" cy="381000"/>
          </a:xfrm>
        </p:grpSpPr>
        <p:sp>
          <p:nvSpPr>
            <p:cNvPr id="228" name="Rectangle"/>
            <p:cNvSpPr/>
            <p:nvPr/>
          </p:nvSpPr>
          <p:spPr>
            <a:xfrm>
              <a:off x="0" y="0"/>
              <a:ext cx="1028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29" name="3.758 s"/>
            <p:cNvSpPr txBox="1"/>
            <p:nvPr/>
          </p:nvSpPr>
          <p:spPr>
            <a:xfrm>
              <a:off x="0" y="120649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3.758 s</a:t>
              </a:r>
            </a:p>
          </p:txBody>
        </p:sp>
      </p:grpSp>
      <p:sp>
        <p:nvSpPr>
          <p:cNvPr id="231" name="Rectangle"/>
          <p:cNvSpPr/>
          <p:nvPr/>
        </p:nvSpPr>
        <p:spPr>
          <a:xfrm>
            <a:off x="2438400" y="3267075"/>
            <a:ext cx="11239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4" name="Group"/>
          <p:cNvGrpSpPr/>
          <p:nvPr/>
        </p:nvGrpSpPr>
        <p:grpSpPr>
          <a:xfrm>
            <a:off x="2486025" y="3314700"/>
            <a:ext cx="1028700" cy="381000"/>
            <a:chOff x="0" y="0"/>
            <a:chExt cx="1028700" cy="381000"/>
          </a:xfrm>
        </p:grpSpPr>
        <p:sp>
          <p:nvSpPr>
            <p:cNvPr id="232" name="Rectangle"/>
            <p:cNvSpPr/>
            <p:nvPr/>
          </p:nvSpPr>
          <p:spPr>
            <a:xfrm>
              <a:off x="0" y="0"/>
              <a:ext cx="1028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3" name="0.188 s"/>
            <p:cNvSpPr txBox="1"/>
            <p:nvPr/>
          </p:nvSpPr>
          <p:spPr>
            <a:xfrm>
              <a:off x="0" y="120649"/>
              <a:ext cx="10287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0.188 s</a:t>
              </a:r>
            </a:p>
          </p:txBody>
        </p:sp>
      </p:grpSp>
      <p:sp>
        <p:nvSpPr>
          <p:cNvPr id="235" name="Rectangle"/>
          <p:cNvSpPr/>
          <p:nvPr/>
        </p:nvSpPr>
        <p:spPr>
          <a:xfrm>
            <a:off x="3562350" y="326707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38" name="Group"/>
          <p:cNvGrpSpPr/>
          <p:nvPr/>
        </p:nvGrpSpPr>
        <p:grpSpPr>
          <a:xfrm>
            <a:off x="3609975" y="3314700"/>
            <a:ext cx="685800" cy="381000"/>
            <a:chOff x="0" y="0"/>
            <a:chExt cx="685800" cy="381000"/>
          </a:xfrm>
        </p:grpSpPr>
        <p:sp>
          <p:nvSpPr>
            <p:cNvPr id="236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37" name="4.73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4.73</a:t>
              </a:r>
            </a:p>
          </p:txBody>
        </p:sp>
      </p:grpSp>
      <p:sp>
        <p:nvSpPr>
          <p:cNvPr id="239" name="Rectangle"/>
          <p:cNvSpPr/>
          <p:nvPr/>
        </p:nvSpPr>
        <p:spPr>
          <a:xfrm>
            <a:off x="4343400" y="326707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42" name="Group"/>
          <p:cNvGrpSpPr/>
          <p:nvPr/>
        </p:nvGrpSpPr>
        <p:grpSpPr>
          <a:xfrm>
            <a:off x="4391025" y="3314700"/>
            <a:ext cx="685800" cy="381000"/>
            <a:chOff x="0" y="0"/>
            <a:chExt cx="685800" cy="381000"/>
          </a:xfrm>
        </p:grpSpPr>
        <p:sp>
          <p:nvSpPr>
            <p:cNvPr id="240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1" name="0.099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0.099</a:t>
              </a:r>
            </a:p>
          </p:txBody>
        </p:sp>
      </p:grpSp>
      <p:sp>
        <p:nvSpPr>
          <p:cNvPr id="243" name="Rectangle"/>
          <p:cNvSpPr/>
          <p:nvPr/>
        </p:nvSpPr>
        <p:spPr>
          <a:xfrm>
            <a:off x="5124450" y="326707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46" name="Group"/>
          <p:cNvGrpSpPr/>
          <p:nvPr/>
        </p:nvGrpSpPr>
        <p:grpSpPr>
          <a:xfrm>
            <a:off x="5172075" y="3314700"/>
            <a:ext cx="685800" cy="381000"/>
            <a:chOff x="0" y="0"/>
            <a:chExt cx="685800" cy="381000"/>
          </a:xfrm>
        </p:grpSpPr>
        <p:sp>
          <p:nvSpPr>
            <p:cNvPr id="244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5" name="4.91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4.91</a:t>
              </a:r>
            </a:p>
          </p:txBody>
        </p:sp>
      </p:grpSp>
      <p:sp>
        <p:nvSpPr>
          <p:cNvPr id="247" name="Rectangle"/>
          <p:cNvSpPr/>
          <p:nvPr/>
        </p:nvSpPr>
        <p:spPr>
          <a:xfrm>
            <a:off x="5905500" y="3267075"/>
            <a:ext cx="7810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50" name="Group"/>
          <p:cNvGrpSpPr/>
          <p:nvPr/>
        </p:nvGrpSpPr>
        <p:grpSpPr>
          <a:xfrm>
            <a:off x="5953125" y="3314700"/>
            <a:ext cx="685800" cy="381000"/>
            <a:chOff x="0" y="0"/>
            <a:chExt cx="685800" cy="381000"/>
          </a:xfrm>
        </p:grpSpPr>
        <p:sp>
          <p:nvSpPr>
            <p:cNvPr id="248" name="Rectangle"/>
            <p:cNvSpPr/>
            <p:nvPr/>
          </p:nvSpPr>
          <p:spPr>
            <a:xfrm>
              <a:off x="0" y="0"/>
              <a:ext cx="68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49" name="0.090"/>
            <p:cNvSpPr txBox="1"/>
            <p:nvPr/>
          </p:nvSpPr>
          <p:spPr>
            <a:xfrm>
              <a:off x="0" y="120649"/>
              <a:ext cx="685800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9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0.090</a:t>
              </a:r>
            </a:p>
          </p:txBody>
        </p:sp>
      </p:grpSp>
      <p:grpSp>
        <p:nvGrpSpPr>
          <p:cNvPr id="253" name="Group"/>
          <p:cNvGrpSpPr/>
          <p:nvPr/>
        </p:nvGrpSpPr>
        <p:grpSpPr>
          <a:xfrm>
            <a:off x="7239000" y="1381125"/>
            <a:ext cx="3857625" cy="2190750"/>
            <a:chOff x="0" y="0"/>
            <a:chExt cx="3857625" cy="2190750"/>
          </a:xfrm>
        </p:grpSpPr>
        <p:sp>
          <p:nvSpPr>
            <p:cNvPr id="251" name="Rectangle"/>
            <p:cNvSpPr/>
            <p:nvPr/>
          </p:nvSpPr>
          <p:spPr>
            <a:xfrm>
              <a:off x="0" y="0"/>
              <a:ext cx="3857625" cy="2190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2" name="Primerjava:…"/>
            <p:cNvSpPr txBox="1"/>
            <p:nvPr/>
          </p:nvSpPr>
          <p:spPr>
            <a:xfrm>
              <a:off x="0" y="0"/>
              <a:ext cx="3857625" cy="16074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Primerjava: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Numba močno zmanjša čas izvajanja iste simulacijske zanke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pri 1 procesu je čas 17.766 s → 0.923 s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pri 8 procesih je čas 3.758 s → 0.188 s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pohitritev z MPI ostane podobna pri obeh verzijah</a:t>
              </a:r>
            </a:p>
          </p:txBody>
        </p:sp>
      </p:grpSp>
      <p:grpSp>
        <p:nvGrpSpPr>
          <p:cNvPr id="256" name="Group"/>
          <p:cNvGrpSpPr/>
          <p:nvPr/>
        </p:nvGrpSpPr>
        <p:grpSpPr>
          <a:xfrm>
            <a:off x="7239000" y="4000500"/>
            <a:ext cx="3619500" cy="723900"/>
            <a:chOff x="0" y="0"/>
            <a:chExt cx="3619500" cy="723900"/>
          </a:xfrm>
        </p:grpSpPr>
        <p:sp>
          <p:nvSpPr>
            <p:cNvPr id="254" name="Rectangle"/>
            <p:cNvSpPr/>
            <p:nvPr/>
          </p:nvSpPr>
          <p:spPr>
            <a:xfrm>
              <a:off x="0" y="0"/>
              <a:ext cx="3619500" cy="723900"/>
            </a:xfrm>
            <a:prstGeom prst="rect">
              <a:avLst/>
            </a:prstGeom>
            <a:solidFill>
              <a:srgbClr val="F8FAFC"/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5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5" name="S(p) = T(1) / T(p)…"/>
            <p:cNvSpPr txBox="1"/>
            <p:nvPr/>
          </p:nvSpPr>
          <p:spPr>
            <a:xfrm>
              <a:off x="38100" y="0"/>
              <a:ext cx="3543300" cy="685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14300" tIns="114300" rIns="114300" bIns="114300" numCol="1" anchor="t">
              <a:spAutoFit/>
            </a:bodyPr>
            <a:lstStyle/>
            <a:p>
              <a:pPr>
                <a:defRPr b="1" sz="15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S(p) = T(1) / T(p)</a:t>
              </a:r>
            </a:p>
            <a:p>
              <a:pPr>
                <a:defRPr b="1" sz="15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 = Karp-Flatt metrika</a:t>
              </a:r>
            </a:p>
          </p:txBody>
        </p:sp>
      </p:grpSp>
      <p:grpSp>
        <p:nvGrpSpPr>
          <p:cNvPr id="259" name="Group"/>
          <p:cNvGrpSpPr/>
          <p:nvPr/>
        </p:nvGrpSpPr>
        <p:grpSpPr>
          <a:xfrm>
            <a:off x="666750" y="6334125"/>
            <a:ext cx="4953000" cy="209550"/>
            <a:chOff x="0" y="0"/>
            <a:chExt cx="4953000" cy="209550"/>
          </a:xfrm>
        </p:grpSpPr>
        <p:sp>
          <p:nvSpPr>
            <p:cNvPr id="257" name="Rectangle"/>
            <p:cNvSpPr/>
            <p:nvPr/>
          </p:nvSpPr>
          <p:spPr>
            <a:xfrm>
              <a:off x="0" y="0"/>
              <a:ext cx="4953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58" name="Simulacija transporta nevtronov · 5"/>
            <p:cNvSpPr txBox="1"/>
            <p:nvPr/>
          </p:nvSpPr>
          <p:spPr>
            <a:xfrm>
              <a:off x="0" y="0"/>
              <a:ext cx="495300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Simulacija transporta nevtronov · 5</a:t>
              </a:r>
            </a:p>
          </p:txBody>
        </p:sp>
      </p:grpSp>
      <p:grpSp>
        <p:nvGrpSpPr>
          <p:cNvPr id="262" name="Group"/>
          <p:cNvGrpSpPr/>
          <p:nvPr/>
        </p:nvGrpSpPr>
        <p:grpSpPr>
          <a:xfrm>
            <a:off x="572775" y="3919537"/>
            <a:ext cx="3857626" cy="2190751"/>
            <a:chOff x="0" y="0"/>
            <a:chExt cx="3857625" cy="2190750"/>
          </a:xfrm>
        </p:grpSpPr>
        <p:sp>
          <p:nvSpPr>
            <p:cNvPr id="260" name="Rectangle"/>
            <p:cNvSpPr/>
            <p:nvPr/>
          </p:nvSpPr>
          <p:spPr>
            <a:xfrm>
              <a:off x="0" y="0"/>
              <a:ext cx="3857625" cy="2190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61" name="Parametri:…"/>
            <p:cNvSpPr txBox="1"/>
            <p:nvPr/>
          </p:nvSpPr>
          <p:spPr>
            <a:xfrm>
              <a:off x="0" y="0"/>
              <a:ext cx="3857625" cy="685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Parametri: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procesor Apple M4, 10 jeder</a:t>
              </a:r>
            </a:p>
            <a:p>
              <a:pPr>
                <a:defRPr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št. nevtronov: 10.000.000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67" name="Group"/>
          <p:cNvGrpSpPr/>
          <p:nvPr/>
        </p:nvGrpSpPr>
        <p:grpSpPr>
          <a:xfrm>
            <a:off x="666750" y="438150"/>
            <a:ext cx="8001000" cy="457200"/>
            <a:chOff x="0" y="0"/>
            <a:chExt cx="8001000" cy="457200"/>
          </a:xfrm>
        </p:grpSpPr>
        <p:sp>
          <p:nvSpPr>
            <p:cNvPr id="265" name="Rectangle"/>
            <p:cNvSpPr/>
            <p:nvPr/>
          </p:nvSpPr>
          <p:spPr>
            <a:xfrm>
              <a:off x="0" y="0"/>
              <a:ext cx="80010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66" name="Pohitritev"/>
            <p:cNvSpPr txBox="1"/>
            <p:nvPr/>
          </p:nvSpPr>
          <p:spPr>
            <a:xfrm>
              <a:off x="0" y="0"/>
              <a:ext cx="8001000" cy="368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b="1" sz="2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Pohitritev</a:t>
              </a:r>
            </a:p>
          </p:txBody>
        </p:sp>
      </p:grpSp>
      <p:sp>
        <p:nvSpPr>
          <p:cNvPr id="268" name="Rectangle"/>
          <p:cNvSpPr/>
          <p:nvPr/>
        </p:nvSpPr>
        <p:spPr>
          <a:xfrm>
            <a:off x="666750" y="1104900"/>
            <a:ext cx="10858500" cy="19050"/>
          </a:xfrm>
          <a:prstGeom prst="rect">
            <a:avLst/>
          </a:prstGeom>
          <a:solidFill>
            <a:srgbClr val="2563EB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269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7250" y="1400608"/>
            <a:ext cx="6858000" cy="358053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2" name="Group"/>
          <p:cNvGrpSpPr/>
          <p:nvPr/>
        </p:nvGrpSpPr>
        <p:grpSpPr>
          <a:xfrm>
            <a:off x="8191500" y="1571625"/>
            <a:ext cx="3143250" cy="2895600"/>
            <a:chOff x="0" y="0"/>
            <a:chExt cx="3143250" cy="2895600"/>
          </a:xfrm>
        </p:grpSpPr>
        <p:sp>
          <p:nvSpPr>
            <p:cNvPr id="270" name="Rectangle"/>
            <p:cNvSpPr/>
            <p:nvPr/>
          </p:nvSpPr>
          <p:spPr>
            <a:xfrm>
              <a:off x="0" y="0"/>
              <a:ext cx="314325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16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1" name="Ključna ugotovitev:…"/>
            <p:cNvSpPr txBox="1"/>
            <p:nvPr/>
          </p:nvSpPr>
          <p:spPr>
            <a:xfrm>
              <a:off x="0" y="0"/>
              <a:ext cx="3143250" cy="2895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6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Ključna ugotovitev:</a:t>
              </a:r>
            </a:p>
            <a:p>
              <a:pPr>
                <a:defRPr sz="16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obe verziji skalirata podobno z več MPI procesi</a:t>
              </a:r>
            </a:p>
            <a:p>
              <a:pPr marL="160421" indent="-160421">
                <a:buSzPct val="100000"/>
                <a:buChar char="•"/>
                <a:defRPr sz="16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Numba zmanjša absolutni čas, ne odstrani pa MPI režije</a:t>
              </a:r>
            </a:p>
            <a:p>
              <a:pPr marL="160421" indent="-160421">
                <a:buSzPct val="100000"/>
                <a:buChar char="•"/>
                <a:defRPr sz="16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Opazen je tudi velik padec nad 4 paralelnimi procesi, saj ima procesor M4 4 hitra jedra in 6 počasnejših - najprej uporabi vsa hitra jedra, potem pa mora dodatne procese odlagati na počasna</a:t>
              </a:r>
            </a:p>
          </p:txBody>
        </p:sp>
      </p:grpSp>
      <p:sp>
        <p:nvSpPr>
          <p:cNvPr id="273" name="Rectangle"/>
          <p:cNvSpPr/>
          <p:nvPr/>
        </p:nvSpPr>
        <p:spPr>
          <a:xfrm>
            <a:off x="8125546" y="5491331"/>
            <a:ext cx="2037055" cy="837671"/>
          </a:xfrm>
          <a:prstGeom prst="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txBody>
          <a:bodyPr lIns="0" tIns="0" rIns="0" bIns="0"/>
          <a:lstStyle/>
          <a:p>
            <a:pPr/>
          </a:p>
        </p:txBody>
      </p:sp>
      <p:grpSp>
        <p:nvGrpSpPr>
          <p:cNvPr id="276" name="Group"/>
          <p:cNvGrpSpPr/>
          <p:nvPr/>
        </p:nvGrpSpPr>
        <p:grpSpPr>
          <a:xfrm>
            <a:off x="8231042" y="5586316"/>
            <a:ext cx="2514601" cy="647701"/>
            <a:chOff x="0" y="0"/>
            <a:chExt cx="2514600" cy="647700"/>
          </a:xfrm>
        </p:grpSpPr>
        <p:sp>
          <p:nvSpPr>
            <p:cNvPr id="274" name="Rectangle"/>
            <p:cNvSpPr/>
            <p:nvPr/>
          </p:nvSpPr>
          <p:spPr>
            <a:xfrm>
              <a:off x="0" y="0"/>
              <a:ext cx="2514600" cy="4762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5" name="Pri 8 procesih:…"/>
            <p:cNvSpPr txBox="1"/>
            <p:nvPr/>
          </p:nvSpPr>
          <p:spPr>
            <a:xfrm>
              <a:off x="0" y="0"/>
              <a:ext cx="2514600" cy="647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Pri 8 procesih:</a:t>
              </a:r>
            </a:p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brez Numbe S = 4.73</a:t>
              </a:r>
            </a:p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Numba S = 4.91</a:t>
              </a:r>
            </a:p>
          </p:txBody>
        </p:sp>
      </p:grpSp>
      <p:grpSp>
        <p:nvGrpSpPr>
          <p:cNvPr id="279" name="Group"/>
          <p:cNvGrpSpPr/>
          <p:nvPr/>
        </p:nvGrpSpPr>
        <p:grpSpPr>
          <a:xfrm>
            <a:off x="666750" y="6334125"/>
            <a:ext cx="4953000" cy="209550"/>
            <a:chOff x="0" y="0"/>
            <a:chExt cx="4953000" cy="209550"/>
          </a:xfrm>
        </p:grpSpPr>
        <p:sp>
          <p:nvSpPr>
            <p:cNvPr id="277" name="Rectangle"/>
            <p:cNvSpPr/>
            <p:nvPr/>
          </p:nvSpPr>
          <p:spPr>
            <a:xfrm>
              <a:off x="0" y="0"/>
              <a:ext cx="4953000" cy="2095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175" cap="flat">
              <a:solidFill>
                <a:srgbClr val="000000">
                  <a:alpha val="0"/>
                </a:srgb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  <p:sp>
          <p:nvSpPr>
            <p:cNvPr id="278" name="Simulacija transporta nevtronov · 6"/>
            <p:cNvSpPr txBox="1"/>
            <p:nvPr/>
          </p:nvSpPr>
          <p:spPr>
            <a:xfrm>
              <a:off x="0" y="0"/>
              <a:ext cx="4953000" cy="139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defRPr sz="900">
                  <a:solidFill>
                    <a:srgbClr val="6B7280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Simulacija transporta nevtronov · 6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