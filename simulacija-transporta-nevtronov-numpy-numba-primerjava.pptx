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fb59fd49354991" /><Relationship Type="http://schemas.openxmlformats.org/officeDocument/2006/relationships/extended-properties" Target="/docProps/app.xml" Id="R6cab12477baf494f" /><Relationship Type="http://schemas.openxmlformats.org/officeDocument/2006/relationships/officeDocument" Target="/ppt/presentation.xml" Id="Rf71127f82d3248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1907e9b8f444aa"/>
  </p:sldMasterIdLst>
  <p:notesMasterIdLst>
    <p:notesMasterId xmlns:r="http://schemas.openxmlformats.org/officeDocument/2006/relationships" r:id="R26e04123afc34d68"/>
  </p:notesMasterIdLst>
  <p:sldIdLst>
    <p:sldId xmlns:r="http://schemas.openxmlformats.org/officeDocument/2006/relationships" id="256" r:id="R4e6ac8b7375c4d65"/>
    <p:sldId xmlns:r="http://schemas.openxmlformats.org/officeDocument/2006/relationships" id="257" r:id="R2a38602f4045485d"/>
    <p:sldId xmlns:r="http://schemas.openxmlformats.org/officeDocument/2006/relationships" id="258" r:id="Raa890d5789a24885"/>
    <p:sldId xmlns:r="http://schemas.openxmlformats.org/officeDocument/2006/relationships" id="259" r:id="R2a670290b95b4e23"/>
    <p:sldId xmlns:r="http://schemas.openxmlformats.org/officeDocument/2006/relationships" id="260" r:id="R7184d3e416d64bc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1907e9b8f444aa" /><Relationship Type="http://schemas.openxmlformats.org/officeDocument/2006/relationships/theme" Target="/ppt/theme/theme1.xml" Id="Rc0b66ea2cd9e4d2e" /><Relationship Type="http://schemas.openxmlformats.org/officeDocument/2006/relationships/notesMaster" Target="/ppt/notesMasters/notesMaster1.xml" Id="R26e04123afc34d68" /><Relationship Type="http://schemas.openxmlformats.org/officeDocument/2006/relationships/presProps" Target="/ppt/presProps.xml" Id="Rd4853a5e09ea4ef6" /><Relationship Type="http://schemas.openxmlformats.org/officeDocument/2006/relationships/viewProps" Target="/ppt/viewProps.xml" Id="R582663b5917e42e2" /><Relationship Type="http://schemas.openxmlformats.org/officeDocument/2006/relationships/tableStyles" Target="/ppt/tableStyles.xml" Id="Rfab432e4fbb844c0" /><Relationship Type="http://schemas.openxmlformats.org/officeDocument/2006/relationships/slide" Target="/ppt/slides/slide1.xml" Id="R4e6ac8b7375c4d65" /><Relationship Type="http://schemas.openxmlformats.org/officeDocument/2006/relationships/slide" Target="/ppt/slides/slide2.xml" Id="R2a38602f4045485d" /><Relationship Type="http://schemas.openxmlformats.org/officeDocument/2006/relationships/slide" Target="/ppt/slides/slide3.xml" Id="Raa890d5789a24885" /><Relationship Type="http://schemas.openxmlformats.org/officeDocument/2006/relationships/slide" Target="/ppt/slides/slide4.xml" Id="R2a670290b95b4e23" /><Relationship Type="http://schemas.openxmlformats.org/officeDocument/2006/relationships/slide" Target="/ppt/slides/slide5.xml" Id="R7184d3e416d64b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396ff17bdb349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42a48339a64e58" /><Relationship Type="http://schemas.openxmlformats.org/officeDocument/2006/relationships/notesMaster" Target="/ppt/notesMasters/notesMaster1.xml" Id="R3d623f0b68e54e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82f5c570ee43fe" /><Relationship Type="http://schemas.openxmlformats.org/officeDocument/2006/relationships/notesMaster" Target="/ppt/notesMasters/notesMaster1.xml" Id="R363ea463ac4648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f6314896a847ac" /><Relationship Type="http://schemas.openxmlformats.org/officeDocument/2006/relationships/notesMaster" Target="/ppt/notesMasters/notesMaster1.xml" Id="R55c3cd6167f347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9298df06d14049" /><Relationship Type="http://schemas.openxmlformats.org/officeDocument/2006/relationships/notesMaster" Target="/ppt/notesMasters/notesMaster1.xml" Id="R548d89c81cc741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43e0d0913b44f0" /><Relationship Type="http://schemas.openxmlformats.org/officeDocument/2006/relationships/notesMaster" Target="/ppt/notesMasters/notesMaster1.xml" Id="R1bb4f546802649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16e99ba97f453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8bd2a3bb4354bd1" /><Relationship Type="http://schemas.openxmlformats.org/officeDocument/2006/relationships/slideLayout" Target="/ppt/slideLayouts/slideLayout2.xml" Id="R0df56c36199747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f56c36199747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810b3608f344b9" /><Relationship Type="http://schemas.openxmlformats.org/officeDocument/2006/relationships/notesSlide" Target="/ppt/notesSlides/notesSlide1.xml" Id="R99205030b69e49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a6acf39a8c4033" /><Relationship Type="http://schemas.openxmlformats.org/officeDocument/2006/relationships/notesSlide" Target="/ppt/notesSlides/notesSlide2.xml" Id="R9ff23e8ced7d43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5f7c8118a84121" /><Relationship Type="http://schemas.openxmlformats.org/officeDocument/2006/relationships/notesSlide" Target="/ppt/notesSlides/notesSlide3.xml" Id="Rbd635c1066de42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402dbd15d64ad0" /><Relationship Type="http://schemas.openxmlformats.org/officeDocument/2006/relationships/image" Target="/ppt/media/image.png" Id="R22d1b168d68d451c" /><Relationship Type="http://schemas.openxmlformats.org/officeDocument/2006/relationships/image" Target="/ppt/media/image2.png" Id="R62ac450d6b3b4f5d" /><Relationship Type="http://schemas.openxmlformats.org/officeDocument/2006/relationships/notesSlide" Target="/ppt/notesSlides/notesSlide4.xml" Id="R022a9fc1d7124e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1463580cf84c84" /><Relationship Type="http://schemas.openxmlformats.org/officeDocument/2006/relationships/image" Target="/ppt/media/image3.png" Id="R9473f026f375423c" /><Relationship Type="http://schemas.openxmlformats.org/officeDocument/2006/relationships/notesSlide" Target="/ppt/notesSlides/notesSlide5.xml" Id="R7ff8697a0bb5470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6705E1-1A3E-480A-9537-F9D4719F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67A02-1DCB-4C6F-82F4-820CF4D5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B3722-8911-4232-9223-6F5911AF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Simulacija transporta nevtronov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DD55F-0611-46A5-BE77-55A3C166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Primerjava: NumPy proti NumPy + Numba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9C43A-C262-47D1-81DE-15443414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Meritve za 10.000.000 nevtronov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2E562-B729-4E7D-BF54-6F3C2216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Ime in priimek: Jure Kos</a:t>
            </a:r>
          </a:p>
        </p:txBody>
      </p:sp>
    </p:spTree>
    <p:extLst>
      <p:ext uri="{BB962C8B-B14F-4D97-AF65-F5344CB8AC3E}">
        <p14:creationId xmlns:p14="http://schemas.microsoft.com/office/powerpoint/2010/main" val="3273268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FA96EF-64AC-47A8-B423-60A6E8D4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64801-CDD2-4192-912E-54D4FDF0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895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Kaj primerjamo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7B464-1549-47D2-BFAC-6174FA09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86663-4773-42F0-982A-5F6C068F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6572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main.py: vektorizirana NumPy izvedba brez Numbe</a:t>
            </a:r>
          </a:p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main_numba.py: ista batch logika, dodatno prevedena z Numba njit</a:t>
            </a:r>
          </a:p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oba programa uporabljata polja x, y, angle, steps in active</a:t>
            </a:r>
          </a:p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število nevtronov se deli med MPI procese</a:t>
            </a:r>
          </a:p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merjen je čas simulacije, povprečno število korakov in povprečni |y|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3911B-113F-478D-8590-739E38B5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F4A13-C4DD-461D-AB97-EA72302E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2838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Pomembno:</a:t>
            </a:r>
          </a:p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Numba je koristna predvsem, ko pospeši Python zanke. Če je glavno delo že v NumPy vektorskih operacijah, dodatni pospešek ni nujen.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ADBF6-B247-4F0A-BBBA-F1F709F9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62375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EB5F0-3F89-4110-9E5D-F3638472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86200"/>
            <a:ext cx="2838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Zato je ta meritev bolj realna:</a:t>
            </a:r>
          </a:p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NumPy vs. NumPy + Numba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3A29A-AC42-416B-8877-E88EF0A2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Simulacija transporta nevtronov · 2</a:t>
            </a:r>
          </a:p>
        </p:txBody>
      </p:sp>
    </p:spTree>
    <p:extLst>
      <p:ext uri="{BB962C8B-B14F-4D97-AF65-F5344CB8AC3E}">
        <p14:creationId xmlns:p14="http://schemas.microsoft.com/office/powerpoint/2010/main" val="10592544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54444C-4651-4612-BD82-0F1C0650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E8A3B-57FC-44C3-86D4-06DA3E97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895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Rezultati meritev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D68F4-C5C9-45AA-AABC-5B84533C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F63A3-69D9-4A4E-B975-88F39307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723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AEE02-E0CF-45B2-9E33-A56918E5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647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Procesi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B49B0-6008-4003-8E4A-0ABC5530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381125"/>
            <a:ext cx="1066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E6709-6592-410D-AE3F-945F526C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28750"/>
            <a:ext cx="990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Čas NumPy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F25E2-5101-41BD-9AFF-EEA1055A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3811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24D43-2ABE-4688-94E1-8FFAA78F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28750"/>
            <a:ext cx="1123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Čas NumPy+Numba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51077-5FB4-4147-88C3-E499B61C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381125"/>
            <a:ext cx="1009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158DA-B6EE-48DB-B5B2-7DD9568D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28750"/>
            <a:ext cx="933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NumPy / Numba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575B7-806E-4E29-B3FB-000BC55A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81125"/>
            <a:ext cx="838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4FF64A-05A0-408C-8D69-BECDBB76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28750"/>
            <a:ext cx="76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S NumPy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833C8-8582-4356-A4DB-C20C1268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381125"/>
            <a:ext cx="838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8B3569-A801-48DB-9498-67078F6F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428750"/>
            <a:ext cx="76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S Numba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DAC0A-0777-4A09-A303-4A1AED90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81125"/>
            <a:ext cx="819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04F3E-E1BF-4FEF-8449-5D52CB71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742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 NumPy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0C75F-52D1-4134-A94F-3083D33C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381125"/>
            <a:ext cx="819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C4388C-5F96-4B79-AB9F-96AB46D1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28750"/>
            <a:ext cx="742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 Numba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756025-A561-4FF9-B621-1BEF1F85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57375"/>
            <a:ext cx="72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AB5705-AA6A-43F3-B374-CDE8F453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64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B61FED-7510-4586-90C5-CC23A91F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57375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5E3291-86A8-4487-A127-D8F486C3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0500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1.567 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91D2A8-E5C6-4F32-9CE8-C0836A23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57375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340A7D-7609-439F-870C-E5A12183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1.736 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CB18BF-FE40-40AE-9D18-CB358716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57375"/>
            <a:ext cx="1009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3F78C2-8B6D-4CF8-98B2-096A275C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0500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0.903×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23EB88-8755-43EF-B4D2-6A884DE4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57375"/>
            <a:ext cx="838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69427D-6B19-42E2-812A-AC9F9C3E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050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1.00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BEE47A-320A-4688-A7EC-936A0F66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57375"/>
            <a:ext cx="838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693994-902E-404F-95DF-744C4923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050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1.00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A80570-394A-44DB-8696-3384F7D4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57375"/>
            <a:ext cx="81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901884-5DC9-4B4D-884D-6D3523B2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0500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0.000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8892D9-8038-455C-8868-A987DD46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57375"/>
            <a:ext cx="81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05FBF4-9724-4527-9BDE-0CDB1CFA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0500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D019DC-DE0C-4A2B-AF61-7828EB7B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52675"/>
            <a:ext cx="72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02BECC-1B9D-4C4F-9AE1-4ED79BF8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64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FD4E5C-E5FA-4564-A873-B01811C1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52675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F21869-C0DA-4B03-AE3A-EE50DF4B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0030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0.850 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F8CF5B-775C-4C99-8860-0DE65B7B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52675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014CD0-BE40-4DBB-A8E5-D1F1414C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0030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0.920 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584E66-F81E-42BF-A8D3-7AA6A182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52675"/>
            <a:ext cx="1009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700059-D16B-443A-87E7-DD1FD15C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0.923×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7462E4-5143-4AF5-9B9A-4B5E2D52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52675"/>
            <a:ext cx="838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B60568-A505-4109-AAAB-76777C29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1.84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1848B4-00E2-458F-88C7-2DF1863B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52675"/>
            <a:ext cx="838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569337-4E4D-453A-84C9-7CF172FE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003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1.89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CFA94B-7560-4AD1-BA37-25B2AD45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52675"/>
            <a:ext cx="81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A49E1C8-0132-46A6-BBDD-EDC4BA23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0.084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14A3D0-FF20-4286-8BAE-DAC8E98D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52675"/>
            <a:ext cx="81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F787B2-5AB2-425A-AA6D-201AF27D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0030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0.060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90C2D6-8AB5-4342-BD09-7551CFDF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47975"/>
            <a:ext cx="72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EA1705-09DB-4156-A11A-FB853E80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64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D4522A0-271F-4074-A107-9B04EC42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47975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A792775-5A5D-44E2-A1B8-B3304F5B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9560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0.498 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508014D-1F64-4398-AF31-40EAED2E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47975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0985956-A3AC-4B68-9483-1E1FBDD1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9560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0.522 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74AF0F6-4CB1-4B81-B47B-D8CE1E14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47975"/>
            <a:ext cx="1009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5F754D9-0B2D-44DE-836B-75633A50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9560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0.953×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A24080E-4DCE-4828-BA18-B3EF27E0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47975"/>
            <a:ext cx="838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BA0AD91-CA2A-44ED-92DF-317BBA41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956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3.15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E9DAB91-DE5F-450B-AB47-7E9B6ACD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47975"/>
            <a:ext cx="838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674D80A-74A9-47DF-995F-E5A2BD98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956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3.32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EFDF9EC-25B4-4D0D-BE1C-BCC1F4E5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47975"/>
            <a:ext cx="81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2FF9DDA-8558-4C63-9394-2FD1A66C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9560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0.090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78C6601-776F-4B6E-B314-C41C0BDB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47975"/>
            <a:ext cx="81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60EB0F5-8A3D-4C46-B31E-5D830162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9560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0.068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682F96F-DAD9-4538-AADD-1563CC82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43275"/>
            <a:ext cx="72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CCB4D71-F63A-4C10-8067-F49EF1C0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64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887E755-4C75-422D-98B5-6735B977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43275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7EAD8B9-5030-4F77-BFA1-350FB6D8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0.364 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5D663F3-4902-4ADE-8F24-1C7EEF81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43275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5FCD30A-43B9-498D-9BB7-00B3137B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9090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0.367 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B547829-232A-44B7-AD26-C2681C30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43275"/>
            <a:ext cx="1009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64A2774-F231-4AAC-81B2-3496F0A8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9090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0.992×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0CC3ED1-2661-4D7B-8C71-A8CC488C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43275"/>
            <a:ext cx="838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AC6B8A9-B4A8-4995-B2D4-455F1E6C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909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4.30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E096137-8FB9-4535-84ED-F460C350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43275"/>
            <a:ext cx="838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D310C47-AAA8-4E26-9FE7-0681E47D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909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4.73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036366B-243A-46FB-A67B-8D4D7B04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43275"/>
            <a:ext cx="81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7119748-57E8-413C-A286-401E85C5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9090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0.123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33BF176-5D1C-4C5C-A67E-7A6115B4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43275"/>
            <a:ext cx="81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222BCFC-57FB-49F3-A3F4-A79AB757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9090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0.099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2958C2E-31BB-4A4B-859D-BFC58CCC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904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Opomba: vrednost NumPy / Numba pod 1 pomeni, da je NumPy verzija hitrejša.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Pri 8 procesih sta izvedbi skoraj izenačeni, vendar Numba še vedno ni jasno hitrejša.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3450202-737A-4FE4-AC13-3C5B0C40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00625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S(p) = T(1) / T(p)</a:t>
            </a:r>
          </a:p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 = Karp-Flatt metrika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A30C655-8BF2-41A0-924C-B445D9C7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Simulacija transporta nevtronov · 3</a:t>
            </a:r>
          </a:p>
        </p:txBody>
      </p:sp>
    </p:spTree>
    <p:extLst>
      <p:ext uri="{BB962C8B-B14F-4D97-AF65-F5344CB8AC3E}">
        <p14:creationId xmlns:p14="http://schemas.microsoft.com/office/powerpoint/2010/main" val="6699253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D6A520-4B54-48AA-A932-52E29DEA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A9B7D-9338-47F8-AA8D-D66EF0AA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895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Diagrami: čas in MPI pohitritev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0B1F4-B086-4990-AEA4-7DE9860B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1b168d68d451c"/>
          <a:stretch xmlns:a="http://schemas.openxmlformats.org/drawingml/2006/main"/>
        </p:blipFill>
        <p:spPr>
          <a:xfrm xmlns:a="http://schemas.openxmlformats.org/drawingml/2006/main">
            <a:off x="619125" y="1525191"/>
            <a:ext cx="5191125" cy="2855119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c450d6b3b4f5d"/>
          <a:stretch xmlns:a="http://schemas.openxmlformats.org/drawingml/2006/main"/>
        </p:blipFill>
        <p:spPr>
          <a:xfrm xmlns:a="http://schemas.openxmlformats.org/drawingml/2006/main">
            <a:off x="6238875" y="1525191"/>
            <a:ext cx="5191125" cy="285511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EF897-4BF8-4584-A27F-F5CFEB98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1028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Čas se z več procesi zmanjša pri obeh izvedbah. Graf pohitritve kaže, da se obe verziji oddaljita od idealne linearne pohitritve, kar je pričakovano zaradi režije paralelnega izvajanja.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73F2B-9C1A-4155-A5AA-E06299F6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Simulacija transporta nevtronov · 4</a:t>
            </a:r>
          </a:p>
        </p:txBody>
      </p:sp>
    </p:spTree>
    <p:extLst>
      <p:ext uri="{BB962C8B-B14F-4D97-AF65-F5344CB8AC3E}">
        <p14:creationId xmlns:p14="http://schemas.microsoft.com/office/powerpoint/2010/main" val="20477150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A4F213-4774-427E-8282-51DFF3B8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A2385-ED68-4ABA-AB28-9D11CC1F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895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Interpretacija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832E0-08AA-41F0-80C2-554D63B5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3f026f375423c"/>
          <a:stretch xmlns:a="http://schemas.openxmlformats.org/drawingml/2006/main"/>
        </p:blipFill>
        <p:spPr>
          <a:xfrm xmlns:a="http://schemas.openxmlformats.org/drawingml/2006/main">
            <a:off x="762000" y="1485900"/>
            <a:ext cx="5334000" cy="29337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5179D-BDDA-4CD4-9C15-07B4B14F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76375"/>
            <a:ext cx="4333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po prehodu na NumPy se glavno delo že izvaja v optimiziranih vektorskih operacijah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Numba zato nima več enake prednosti kot pri običajnih Python zankah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dodatna režija Numba izvedbe je večja od koristi pri tej verziji algoritma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pri več procesih se razlika zmanjša, ker vsak proces obdeluje manjši del problema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6D883-ED59-4AE2-94B0-0B2DEEC8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24375"/>
            <a:ext cx="4191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7B0AD-5584-4BA7-AC6E-4A988C44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48200"/>
            <a:ext cx="38862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Zaključek:</a:t>
            </a:r>
          </a:p>
          <a:p xmlns:a="http://schemas.openxmlformats.org/drawingml/2006/main">
            <a:pPr algn="l">
              <a:defRPr sz="15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Za ta popravljeni program je čista NumPy verzija najboljša izbira. Numba ni pospešila že vektorizirane simulacije.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E3892-E88B-4049-A917-3344055D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Simulacija transporta nevtronov · 5</a:t>
            </a:r>
          </a:p>
        </p:txBody>
      </p:sp>
    </p:spTree>
    <p:extLst>
      <p:ext uri="{BB962C8B-B14F-4D97-AF65-F5344CB8AC3E}">
        <p14:creationId xmlns:p14="http://schemas.microsoft.com/office/powerpoint/2010/main" val="18241995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2026-05-29T05:55:37.1650000Z</dcterms:created>
  <dcterms:modified xsi:type="dcterms:W3CDTF">2026-05-29T05:55:37.1650000Z</dcterms:modified>
</coreProperties>
</file>